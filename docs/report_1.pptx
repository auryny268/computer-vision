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slideLayouts/slideLayout16.xml" ContentType="application/vnd.openxmlformats-officedocument.presentationml.slideLayout+xml"/>
  <Override PartName="/ppt/theme/theme16.xml" ContentType="application/vnd.openxmlformats-officedocument.theme+xml"/>
  <Override PartName="/ppt/slideLayouts/slideLayout17.xml" ContentType="application/vnd.openxmlformats-officedocument.presentationml.slideLayout+xml"/>
  <Override PartName="/ppt/theme/theme17.xml" ContentType="application/vnd.openxmlformats-officedocument.theme+xml"/>
  <Override PartName="/ppt/slideLayouts/slideLayout18.xml" ContentType="application/vnd.openxmlformats-officedocument.presentationml.slideLayout+xml"/>
  <Override PartName="/ppt/theme/theme18.xml" ContentType="application/vnd.openxmlformats-officedocument.theme+xml"/>
  <Override PartName="/ppt/slideLayouts/slideLayout19.xml" ContentType="application/vnd.openxmlformats-officedocument.presentationml.slideLayout+xml"/>
  <Override PartName="/ppt/theme/theme19.xml" ContentType="application/vnd.openxmlformats-officedocument.theme+xml"/>
  <Override PartName="/ppt/slideLayouts/slideLayout20.xml" ContentType="application/vnd.openxmlformats-officedocument.presentationml.slideLayout+xml"/>
  <Override PartName="/ppt/theme/theme20.xml" ContentType="application/vnd.openxmlformats-officedocument.theme+xml"/>
  <Override PartName="/ppt/slideLayouts/slideLayout21.xml" ContentType="application/vnd.openxmlformats-officedocument.presentationml.slideLayout+xml"/>
  <Override PartName="/ppt/theme/theme21.xml" ContentType="application/vnd.openxmlformats-officedocument.theme+xml"/>
  <Override PartName="/ppt/slideLayouts/slideLayout22.xml" ContentType="application/vnd.openxmlformats-officedocument.presentationml.slideLayout+xml"/>
  <Override PartName="/ppt/theme/theme22.xml" ContentType="application/vnd.openxmlformats-officedocument.theme+xml"/>
  <Override PartName="/ppt/theme/theme2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  <p:sldMasterId id="2147483674" r:id="rId14"/>
    <p:sldMasterId id="2147483676" r:id="rId15"/>
    <p:sldMasterId id="2147483678" r:id="rId16"/>
    <p:sldMasterId id="2147483680" r:id="rId17"/>
    <p:sldMasterId id="2147483682" r:id="rId18"/>
    <p:sldMasterId id="2147483684" r:id="rId19"/>
    <p:sldMasterId id="2147483686" r:id="rId20"/>
    <p:sldMasterId id="2147483688" r:id="rId21"/>
    <p:sldMasterId id="2147483690" r:id="rId22"/>
  </p:sldMasterIdLst>
  <p:notesMasterIdLst>
    <p:notesMasterId r:id="rId44"/>
  </p:notesMasterIdLst>
  <p:sldIdLst>
    <p:sldId id="256" r:id="rId23"/>
    <p:sldId id="257" r:id="rId24"/>
    <p:sldId id="258" r:id="rId25"/>
    <p:sldId id="259" r:id="rId26"/>
    <p:sldId id="260" r:id="rId27"/>
    <p:sldId id="261" r:id="rId28"/>
    <p:sldId id="262" r:id="rId29"/>
    <p:sldId id="263" r:id="rId30"/>
    <p:sldId id="264" r:id="rId31"/>
    <p:sldId id="265" r:id="rId32"/>
    <p:sldId id="266" r:id="rId33"/>
    <p:sldId id="267" r:id="rId34"/>
    <p:sldId id="268" r:id="rId35"/>
    <p:sldId id="269" r:id="rId36"/>
    <p:sldId id="270" r:id="rId37"/>
    <p:sldId id="271" r:id="rId38"/>
    <p:sldId id="272" r:id="rId39"/>
    <p:sldId id="273" r:id="rId40"/>
    <p:sldId id="274" r:id="rId41"/>
    <p:sldId id="275" r:id="rId42"/>
    <p:sldId id="276" r:id="rId43"/>
  </p:sldIdLst>
  <p:sldSz cx="9144000" cy="5143500" type="screen16x9"/>
  <p:notesSz cx="7772400" cy="100584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71"/>
    <p:restoredTop sz="94692"/>
  </p:normalViewPr>
  <p:slideViewPr>
    <p:cSldViewPr snapToGrid="0">
      <p:cViewPr>
        <p:scale>
          <a:sx n="110" d="100"/>
          <a:sy n="110" d="100"/>
        </p:scale>
        <p:origin x="-1328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" Target="slides/slide4.xml"/><Relationship Id="rId39" Type="http://schemas.openxmlformats.org/officeDocument/2006/relationships/slide" Target="slides/slide17.xml"/><Relationship Id="rId21" Type="http://schemas.openxmlformats.org/officeDocument/2006/relationships/slideMaster" Target="slideMasters/slideMaster21.xml"/><Relationship Id="rId34" Type="http://schemas.openxmlformats.org/officeDocument/2006/relationships/slide" Target="slides/slide12.xml"/><Relationship Id="rId42" Type="http://schemas.openxmlformats.org/officeDocument/2006/relationships/slide" Target="slides/slide20.xml"/><Relationship Id="rId47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2.xml"/><Relationship Id="rId32" Type="http://schemas.openxmlformats.org/officeDocument/2006/relationships/slide" Target="slides/slide10.xml"/><Relationship Id="rId37" Type="http://schemas.openxmlformats.org/officeDocument/2006/relationships/slide" Target="slides/slide15.xml"/><Relationship Id="rId40" Type="http://schemas.openxmlformats.org/officeDocument/2006/relationships/slide" Target="slides/slide18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1.xml"/><Relationship Id="rId28" Type="http://schemas.openxmlformats.org/officeDocument/2006/relationships/slide" Target="slides/slide6.xml"/><Relationship Id="rId36" Type="http://schemas.openxmlformats.org/officeDocument/2006/relationships/slide" Target="slides/slide14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" Target="slides/slide9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" Target="slides/slide5.xml"/><Relationship Id="rId30" Type="http://schemas.openxmlformats.org/officeDocument/2006/relationships/slide" Target="slides/slide8.xml"/><Relationship Id="rId35" Type="http://schemas.openxmlformats.org/officeDocument/2006/relationships/slide" Target="slides/slide13.xml"/><Relationship Id="rId43" Type="http://schemas.openxmlformats.org/officeDocument/2006/relationships/slide" Target="slides/slide21.xml"/><Relationship Id="rId48" Type="http://schemas.openxmlformats.org/officeDocument/2006/relationships/tableStyles" Target="tableStyle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3.xml"/><Relationship Id="rId33" Type="http://schemas.openxmlformats.org/officeDocument/2006/relationships/slide" Target="slides/slide11.xml"/><Relationship Id="rId38" Type="http://schemas.openxmlformats.org/officeDocument/2006/relationships/slide" Target="slides/slide16.xml"/><Relationship Id="rId46" Type="http://schemas.openxmlformats.org/officeDocument/2006/relationships/viewProps" Target="viewProps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1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AB7D5F-1E92-9E4D-BCB6-03D668EFB998}" type="datetimeFigureOut">
              <a:rPr lang="en-US" smtClean="0"/>
              <a:t>9/5/25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A2C8E1-A97B-8D49-A69E-D44D97416E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594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homepages.inf.ed.ac.uk</a:t>
            </a:r>
            <a:r>
              <a:rPr lang="en-US" dirty="0"/>
              <a:t>/</a:t>
            </a:r>
            <a:r>
              <a:rPr lang="en-US" dirty="0" err="1"/>
              <a:t>rbf</a:t>
            </a:r>
            <a:r>
              <a:rPr lang="en-US" dirty="0"/>
              <a:t>/HIPR2/</a:t>
            </a:r>
            <a:r>
              <a:rPr lang="en-US" dirty="0" err="1"/>
              <a:t>sobel.htm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2C8E1-A97B-8D49-A69E-D44D97416E6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881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=Osx4gfa2e5A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2C8E1-A97B-8D49-A69E-D44D97416E6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4379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=OOu5KP3Gvx0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2C8E1-A97B-8D49-A69E-D44D97416E6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384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</a:t>
            </a:r>
            <a:r>
              <a:rPr lang="en-US" dirty="0" err="1"/>
              <a:t>bc</a:t>
            </a:r>
            <a:r>
              <a:rPr lang="en-US" dirty="0"/>
              <a:t> I’m getting weird results – is our cutoff function working properly? (I passed all the tests in </a:t>
            </a:r>
            <a:r>
              <a:rPr lang="en-US" dirty="0" err="1"/>
              <a:t>gradescope</a:t>
            </a:r>
            <a:r>
              <a:rPr lang="en-US" dirty="0"/>
              <a:t> </a:t>
            </a:r>
            <a:r>
              <a:rPr lang="en-US" dirty="0" err="1"/>
              <a:t>tho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2C8E1-A97B-8D49-A69E-D44D97416E6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899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B878DAA3-2EB2-49DD-A3B8-B9118387CFA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15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769C7AC-9937-46E5-B220-A7F0455724C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15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F49C367-ADD2-4DF5-BC61-36FEF8B71EB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15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98ABEC26-8F9B-4771-945C-CAAA810A126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15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459F75C-6902-4DF4-A40A-F47018032FF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15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182378A-F1AA-4373-A626-0060A0B9D59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15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3A4E3C1A-AC7E-4B46-9576-975CF1B9ED2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15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1E28C828-CE52-49F1-9C98-AB71B79D7E4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15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CEBE59B1-B21F-4C6F-AFD1-1441C60DB3F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15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B5633C6C-4FCE-4050-9417-5CB4F393B1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15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50F8655-4DA5-416E-8EA2-CA6859C7C16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15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5A38159-2434-484F-9FFA-F21D13EF3DF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15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3"/>
          </p:nvPr>
        </p:nvSpPr>
        <p:spPr/>
        <p:txBody>
          <a:bodyPr/>
          <a:lstStyle/>
          <a:p>
            <a:fld id="{7DB0E88A-8D32-4AF2-ABB0-879A7818D03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15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EC937DC7-5917-450E-B4F4-A29A3B88D3A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15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350B3E28-FF70-4A69-BF56-0D738E31D2F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15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22890F94-CD90-4D4E-BA4C-CBB8C3A18A0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15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44DC4AC5-4C1C-4D42-8FA6-A316D828A44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15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D2381CD5-9FB4-47C5-86A8-CB0264EF460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15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9"/>
          </p:nvPr>
        </p:nvSpPr>
        <p:spPr/>
        <p:txBody>
          <a:bodyPr/>
          <a:lstStyle/>
          <a:p>
            <a:fld id="{3F152F5C-9D49-4B67-A9F8-E7C7C331DB3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15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A2B684E7-EC1B-422A-B500-F3C57A7D126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15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3AA619BB-4CE3-4FE5-BB15-9CCE019211C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15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2"/>
          </p:nvPr>
        </p:nvSpPr>
        <p:spPr/>
        <p:txBody>
          <a:bodyPr/>
          <a:lstStyle/>
          <a:p>
            <a:fld id="{3F6CD9E0-B6E3-4E71-85F7-128CCF2D02E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7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8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19.xml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0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1.xml"/></Relationships>
</file>

<file path=ppt/slideMasters/_rels/slideMaster2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200" b="0" strike="noStrike" spc="-1">
                <a:solidFill>
                  <a:srgbClr val="000000"/>
                </a:solidFill>
                <a:latin typeface="Arial"/>
                <a:ea typeface="Arial"/>
              </a:rPr>
              <a:t>Title Text</a:t>
            </a:r>
            <a:endParaRPr lang="en-US" sz="5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311760" y="2834280"/>
            <a:ext cx="8520120" cy="79236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343080" indent="-22860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One</a:t>
            </a:r>
            <a:endParaRPr lang="en-US" sz="2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343080" indent="25416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Two</a:t>
            </a:r>
            <a:endParaRPr lang="en-US" sz="2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343080" indent="71136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Three</a:t>
            </a:r>
            <a:endParaRPr lang="en-US" sz="2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343080" indent="116856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Four</a:t>
            </a:r>
            <a:endParaRPr lang="en-US" sz="2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343080" indent="162576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Five</a:t>
            </a:r>
            <a:endParaRPr lang="en-US" sz="2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1"/>
          </p:nvPr>
        </p:nvSpPr>
        <p:spPr>
          <a:xfrm>
            <a:off x="8684280" y="4700880"/>
            <a:ext cx="336600" cy="3178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7F6CA5E-2DBD-4802-AA6F-16F1ADA62A6C}" type="slidenum">
              <a: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0" b="0" strike="noStrike" spc="-1">
                <a:solidFill>
                  <a:srgbClr val="000000"/>
                </a:solidFill>
                <a:latin typeface="Arial"/>
                <a:ea typeface="Arial"/>
              </a:rPr>
              <a:t>xx%</a:t>
            </a:r>
            <a:endParaRPr lang="en-US" sz="1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57200" indent="-343080" algn="ctr" defTabSz="914400">
              <a:lnSpc>
                <a:spcPct val="115000"/>
              </a:lnSpc>
              <a:buClr>
                <a:srgbClr val="585858"/>
              </a:buClr>
              <a:buFont typeface="Arial"/>
              <a:buChar char="●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One</a:t>
            </a: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1005120" lvl="1" indent="-408240" algn="ctr" defTabSz="914400">
              <a:lnSpc>
                <a:spcPct val="115000"/>
              </a:lnSpc>
              <a:buClr>
                <a:srgbClr val="585858"/>
              </a:buClr>
              <a:buFont typeface="Arial"/>
              <a:buChar char="○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Two</a:t>
            </a: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1462320" lvl="2" indent="-408240" algn="ctr" defTabSz="914400">
              <a:lnSpc>
                <a:spcPct val="115000"/>
              </a:lnSpc>
              <a:buClr>
                <a:srgbClr val="585858"/>
              </a:buClr>
              <a:buFont typeface="Arial"/>
              <a:buChar char="■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Three</a:t>
            </a: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1919520" lvl="3" indent="-408240" algn="ctr" defTabSz="914400">
              <a:lnSpc>
                <a:spcPct val="115000"/>
              </a:lnSpc>
              <a:buClr>
                <a:srgbClr val="585858"/>
              </a:buClr>
              <a:buFont typeface="Arial"/>
              <a:buChar char="●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Four</a:t>
            </a: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2376720" lvl="4" indent="-408240" algn="ctr" defTabSz="914400">
              <a:lnSpc>
                <a:spcPct val="115000"/>
              </a:lnSpc>
              <a:buClr>
                <a:srgbClr val="585858"/>
              </a:buClr>
              <a:buFont typeface="Arial"/>
              <a:buChar char="○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Five</a:t>
            </a: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2"/>
          </p:nvPr>
        </p:nvSpPr>
        <p:spPr>
          <a:xfrm>
            <a:off x="8684280" y="4700880"/>
            <a:ext cx="336600" cy="3178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F130B90-785D-4E8F-8C7D-931055075202}" type="slidenum">
              <a: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ldNum" idx="3"/>
          </p:nvPr>
        </p:nvSpPr>
        <p:spPr>
          <a:xfrm>
            <a:off x="8684280" y="4700880"/>
            <a:ext cx="336600" cy="3178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1D28565-D544-4672-9EE3-7DB5150EBCE0}" type="slidenum">
              <a: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200" b="0" strike="noStrike" spc="-1">
                <a:solidFill>
                  <a:srgbClr val="000000"/>
                </a:solidFill>
                <a:latin typeface="Arial"/>
                <a:ea typeface="Arial"/>
              </a:rPr>
              <a:t>Title Text</a:t>
            </a:r>
            <a:endParaRPr lang="en-US" sz="5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311760" y="2834280"/>
            <a:ext cx="8520120" cy="79236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343080" indent="-22860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One</a:t>
            </a:r>
            <a:endParaRPr lang="en-US" sz="2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343080" indent="25416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Two</a:t>
            </a:r>
            <a:endParaRPr lang="en-US" sz="2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343080" indent="71136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Three</a:t>
            </a:r>
            <a:endParaRPr lang="en-US" sz="2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343080" indent="116856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Four</a:t>
            </a:r>
            <a:endParaRPr lang="en-US" sz="2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343080" indent="162576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Five</a:t>
            </a:r>
            <a:endParaRPr lang="en-US" sz="2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sldNum" idx="4"/>
          </p:nvPr>
        </p:nvSpPr>
        <p:spPr>
          <a:xfrm>
            <a:off x="8684280" y="4700880"/>
            <a:ext cx="336600" cy="3178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83C2422-397A-4B04-8DD1-F25066441A0A}" type="slidenum">
              <a: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Arial"/>
              </a:rPr>
              <a:t>Title Text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57200" indent="-317520" defTabSz="914400">
              <a:lnSpc>
                <a:spcPct val="115000"/>
              </a:lnSpc>
              <a:buClr>
                <a:srgbClr val="585858"/>
              </a:buClr>
              <a:buFont typeface="Arial"/>
              <a:buChar char="●"/>
            </a:pPr>
            <a:r>
              <a:rPr lang="en-US" sz="14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One</a:t>
            </a:r>
            <a:endParaRPr lang="en-US" sz="14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965160" lvl="1" indent="-355680" defTabSz="914400">
              <a:lnSpc>
                <a:spcPct val="115000"/>
              </a:lnSpc>
              <a:buClr>
                <a:srgbClr val="585858"/>
              </a:buClr>
              <a:buFont typeface="Arial"/>
              <a:buChar char="○"/>
            </a:pPr>
            <a:r>
              <a:rPr lang="en-US" sz="14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Two</a:t>
            </a:r>
            <a:endParaRPr lang="en-US" sz="14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1422360" lvl="2" indent="-355680" defTabSz="914400">
              <a:lnSpc>
                <a:spcPct val="115000"/>
              </a:lnSpc>
              <a:buClr>
                <a:srgbClr val="585858"/>
              </a:buClr>
              <a:buFont typeface="Arial"/>
              <a:buChar char="■"/>
            </a:pPr>
            <a:r>
              <a:rPr lang="en-US" sz="14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Three</a:t>
            </a:r>
            <a:endParaRPr lang="en-US" sz="14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1879560" lvl="3" indent="-355680" defTabSz="914400">
              <a:lnSpc>
                <a:spcPct val="115000"/>
              </a:lnSpc>
              <a:buClr>
                <a:srgbClr val="585858"/>
              </a:buClr>
              <a:buFont typeface="Arial"/>
              <a:buChar char="●"/>
            </a:pPr>
            <a:r>
              <a:rPr lang="en-US" sz="14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Four</a:t>
            </a:r>
            <a:endParaRPr lang="en-US" sz="14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2336760" lvl="4" indent="-355680" defTabSz="914400">
              <a:lnSpc>
                <a:spcPct val="115000"/>
              </a:lnSpc>
              <a:buClr>
                <a:srgbClr val="585858"/>
              </a:buClr>
              <a:buFont typeface="Arial"/>
              <a:buChar char="○"/>
            </a:pPr>
            <a:r>
              <a:rPr lang="en-US" sz="14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Five</a:t>
            </a:r>
            <a:endParaRPr lang="en-US" sz="14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lnSpc>
                <a:spcPct val="11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1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1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1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1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1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1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</a:rPr>
              <a:t>Seventh Outline Level</a:t>
            </a:r>
          </a:p>
        </p:txBody>
      </p:sp>
      <p:sp>
        <p:nvSpPr>
          <p:cNvPr id="21" name="PlaceHolder 4"/>
          <p:cNvSpPr>
            <a:spLocks noGrp="1"/>
          </p:cNvSpPr>
          <p:nvPr>
            <p:ph type="sldNum" idx="5"/>
          </p:nvPr>
        </p:nvSpPr>
        <p:spPr>
          <a:xfrm>
            <a:off x="8684280" y="4700880"/>
            <a:ext cx="336600" cy="3178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EE13BED-6672-43F7-A3A5-039B48235F5B}" type="slidenum">
              <a: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Arial"/>
              </a:rPr>
              <a:t>Title Text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57200" indent="-343080" defTabSz="914400">
              <a:lnSpc>
                <a:spcPct val="115000"/>
              </a:lnSpc>
              <a:buClr>
                <a:srgbClr val="585858"/>
              </a:buClr>
              <a:buFont typeface="Arial"/>
              <a:buChar char="●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One</a:t>
            </a: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1005120" lvl="1" indent="-408240" defTabSz="914400">
              <a:lnSpc>
                <a:spcPct val="115000"/>
              </a:lnSpc>
              <a:buClr>
                <a:srgbClr val="585858"/>
              </a:buClr>
              <a:buFont typeface="Arial"/>
              <a:buChar char="○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Two</a:t>
            </a: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1462320" lvl="2" indent="-408240" defTabSz="914400">
              <a:lnSpc>
                <a:spcPct val="115000"/>
              </a:lnSpc>
              <a:buClr>
                <a:srgbClr val="585858"/>
              </a:buClr>
              <a:buFont typeface="Arial"/>
              <a:buChar char="■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Three</a:t>
            </a: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1919520" lvl="3" indent="-408240" defTabSz="914400">
              <a:lnSpc>
                <a:spcPct val="115000"/>
              </a:lnSpc>
              <a:buClr>
                <a:srgbClr val="585858"/>
              </a:buClr>
              <a:buFont typeface="Arial"/>
              <a:buChar char="●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Four</a:t>
            </a: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2376720" lvl="4" indent="-408240" defTabSz="914400">
              <a:lnSpc>
                <a:spcPct val="115000"/>
              </a:lnSpc>
              <a:buClr>
                <a:srgbClr val="585858"/>
              </a:buClr>
              <a:buFont typeface="Arial"/>
              <a:buChar char="○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Five</a:t>
            </a: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6"/>
          </p:nvPr>
        </p:nvSpPr>
        <p:spPr>
          <a:xfrm>
            <a:off x="8684280" y="4700880"/>
            <a:ext cx="336600" cy="3178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93F8F50-9992-407B-B16B-06A8DAD99692}" type="slidenum">
              <a: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rgbClr val="000000"/>
                </a:solidFill>
                <a:latin typeface="Arial"/>
                <a:ea typeface="Arial"/>
              </a:rPr>
              <a:t>Title Text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ldNum" idx="7"/>
          </p:nvPr>
        </p:nvSpPr>
        <p:spPr>
          <a:xfrm>
            <a:off x="8684280" y="4700880"/>
            <a:ext cx="336600" cy="3178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49C04D0-4E58-4A7F-AF95-93A545420A7C}" type="slidenum">
              <a: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Arial"/>
              </a:rPr>
              <a:t>Title Text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sldNum" idx="8"/>
          </p:nvPr>
        </p:nvSpPr>
        <p:spPr>
          <a:xfrm>
            <a:off x="8684280" y="4700880"/>
            <a:ext cx="336600" cy="3178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3CB1914-ECE5-49B5-800A-A18555D5CD1B}" type="slidenum">
              <a: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Arial"/>
              </a:rPr>
              <a:t>Title Text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57200" indent="-304920" defTabSz="914400">
              <a:lnSpc>
                <a:spcPct val="115000"/>
              </a:lnSpc>
              <a:buClr>
                <a:srgbClr val="585858"/>
              </a:buClr>
              <a:buFont typeface="Arial"/>
              <a:buChar char="●"/>
            </a:pPr>
            <a:r>
              <a:rPr lang="en-US" sz="12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One</a:t>
            </a:r>
            <a:endParaRPr lang="en-US" sz="12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914400" lvl="1" indent="-304920" defTabSz="914400">
              <a:lnSpc>
                <a:spcPct val="115000"/>
              </a:lnSpc>
              <a:buClr>
                <a:srgbClr val="585858"/>
              </a:buClr>
              <a:buFont typeface="Arial"/>
              <a:buChar char="○"/>
            </a:pPr>
            <a:r>
              <a:rPr lang="en-US" sz="12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Two</a:t>
            </a:r>
            <a:endParaRPr lang="en-US" sz="12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1371600" lvl="2" indent="-304920" defTabSz="914400">
              <a:lnSpc>
                <a:spcPct val="115000"/>
              </a:lnSpc>
              <a:buClr>
                <a:srgbClr val="585858"/>
              </a:buClr>
              <a:buFont typeface="Arial"/>
              <a:buChar char="■"/>
            </a:pPr>
            <a:r>
              <a:rPr lang="en-US" sz="12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Three</a:t>
            </a:r>
            <a:endParaRPr lang="en-US" sz="12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1828800" lvl="3" indent="-304920" defTabSz="914400">
              <a:lnSpc>
                <a:spcPct val="115000"/>
              </a:lnSpc>
              <a:buClr>
                <a:srgbClr val="585858"/>
              </a:buClr>
              <a:buFont typeface="Arial"/>
              <a:buChar char="●"/>
            </a:pPr>
            <a:r>
              <a:rPr lang="en-US" sz="12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Four</a:t>
            </a:r>
            <a:endParaRPr lang="en-US" sz="12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2286000" lvl="4" indent="-304920" defTabSz="914400">
              <a:lnSpc>
                <a:spcPct val="115000"/>
              </a:lnSpc>
              <a:buClr>
                <a:srgbClr val="585858"/>
              </a:buClr>
              <a:buFont typeface="Arial"/>
              <a:buChar char="○"/>
            </a:pPr>
            <a:r>
              <a:rPr lang="en-US" sz="12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Five</a:t>
            </a:r>
            <a:endParaRPr lang="en-US" sz="12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sldNum" idx="9"/>
          </p:nvPr>
        </p:nvSpPr>
        <p:spPr>
          <a:xfrm>
            <a:off x="8684280" y="4700880"/>
            <a:ext cx="336600" cy="3178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C0672EF-5AE8-4B98-A46B-B28E530F3013}" type="slidenum">
              <a: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>
                <a:solidFill>
                  <a:srgbClr val="000000"/>
                </a:solidFill>
                <a:latin typeface="Arial"/>
                <a:ea typeface="Arial"/>
              </a:rPr>
              <a:t>Title Text</a:t>
            </a:r>
            <a:endParaRPr lang="en-US" sz="4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ldNum" idx="10"/>
          </p:nvPr>
        </p:nvSpPr>
        <p:spPr>
          <a:xfrm>
            <a:off x="8684280" y="4700880"/>
            <a:ext cx="336600" cy="3178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938D003-FD24-48A5-993C-36D00FDA209B}" type="slidenum">
              <a: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81;p21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rgbClr val="EEEEEE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strike="noStrike" spc="-1">
                <a:solidFill>
                  <a:srgbClr val="000000"/>
                </a:solidFill>
                <a:latin typeface="Arial"/>
                <a:ea typeface="Arial"/>
              </a:rPr>
              <a:t>Title Text</a:t>
            </a:r>
            <a:endParaRPr lang="en-US" sz="4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265680" y="2802960"/>
            <a:ext cx="4044960" cy="12348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343080" indent="-22860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1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One</a:t>
            </a:r>
            <a:endParaRPr lang="en-US" sz="21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343080" indent="25416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1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Two</a:t>
            </a:r>
            <a:endParaRPr lang="en-US" sz="21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343080" indent="71136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1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Three</a:t>
            </a:r>
            <a:endParaRPr lang="en-US" sz="21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343080" indent="116856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1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Four</a:t>
            </a:r>
            <a:endParaRPr lang="en-US" sz="21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343080" indent="162576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1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Five</a:t>
            </a:r>
            <a:endParaRPr lang="en-US" sz="21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/>
          <a:p>
            <a:pPr marL="432000" indent="-324000">
              <a:lnSpc>
                <a:spcPct val="11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1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1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1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1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1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1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</a:rPr>
              <a:t>Seventh Outline Level</a:t>
            </a:r>
          </a:p>
        </p:txBody>
      </p:sp>
      <p:sp>
        <p:nvSpPr>
          <p:cNvPr id="50" name="PlaceHolder 4"/>
          <p:cNvSpPr>
            <a:spLocks noGrp="1"/>
          </p:cNvSpPr>
          <p:nvPr>
            <p:ph type="sldNum" idx="11"/>
          </p:nvPr>
        </p:nvSpPr>
        <p:spPr>
          <a:xfrm>
            <a:off x="8684280" y="4700880"/>
            <a:ext cx="336600" cy="3178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5B59255-4FC1-43BD-A5F5-DF3CD335CED2}" type="slidenum">
              <a: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rgbClr val="000000"/>
                </a:solidFill>
                <a:latin typeface="Arial"/>
                <a:ea typeface="Arial"/>
              </a:rPr>
              <a:t>Title Text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ldNum" idx="12"/>
          </p:nvPr>
        </p:nvSpPr>
        <p:spPr>
          <a:xfrm>
            <a:off x="8684280" y="4700880"/>
            <a:ext cx="336600" cy="3178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BB442DE-00B6-4CB1-99BE-BA4CE95AF42E}" type="slidenum">
              <a: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/>
          <a:p>
            <a:pPr marL="228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One</a:t>
            </a: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1005120" lvl="1" indent="-408240" defTabSz="914400">
              <a:lnSpc>
                <a:spcPct val="100000"/>
              </a:lnSpc>
              <a:buClr>
                <a:srgbClr val="585858"/>
              </a:buClr>
              <a:buFont typeface="Arial"/>
              <a:buChar char="○"/>
              <a:tabLst>
                <a:tab pos="0" algn="l"/>
              </a:tabLst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Two</a:t>
            </a: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1462320" lvl="2" indent="-408240" defTabSz="914400">
              <a:lnSpc>
                <a:spcPct val="100000"/>
              </a:lnSpc>
              <a:buClr>
                <a:srgbClr val="585858"/>
              </a:buClr>
              <a:buFont typeface="Arial"/>
              <a:buChar char="■"/>
              <a:tabLst>
                <a:tab pos="0" algn="l"/>
              </a:tabLst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Three</a:t>
            </a: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1919520" lvl="3" indent="-408240" defTabSz="914400">
              <a:lnSpc>
                <a:spcPct val="100000"/>
              </a:lnSpc>
              <a:buClr>
                <a:srgbClr val="585858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Four</a:t>
            </a: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2376720" lvl="4" indent="-408240" defTabSz="914400">
              <a:lnSpc>
                <a:spcPct val="100000"/>
              </a:lnSpc>
              <a:buClr>
                <a:srgbClr val="585858"/>
              </a:buClr>
              <a:buFont typeface="Arial"/>
              <a:buChar char="○"/>
              <a:tabLst>
                <a:tab pos="0" algn="l"/>
              </a:tabLst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Five</a:t>
            </a: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ldNum" idx="13"/>
          </p:nvPr>
        </p:nvSpPr>
        <p:spPr>
          <a:xfrm>
            <a:off x="8684280" y="4700880"/>
            <a:ext cx="336600" cy="3178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339D8F9-F261-45EF-8B29-639EDA5842FD}" type="slidenum">
              <a: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0" b="0" strike="noStrike" spc="-1">
                <a:solidFill>
                  <a:srgbClr val="000000"/>
                </a:solidFill>
                <a:latin typeface="Arial"/>
                <a:ea typeface="Arial"/>
              </a:rPr>
              <a:t>xx%</a:t>
            </a:r>
            <a:endParaRPr lang="en-US" sz="1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57200" indent="-343080" algn="ctr" defTabSz="914400">
              <a:lnSpc>
                <a:spcPct val="115000"/>
              </a:lnSpc>
              <a:buClr>
                <a:srgbClr val="585858"/>
              </a:buClr>
              <a:buFont typeface="Arial"/>
              <a:buChar char="●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One</a:t>
            </a: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1005120" lvl="1" indent="-408240" algn="ctr" defTabSz="914400">
              <a:lnSpc>
                <a:spcPct val="115000"/>
              </a:lnSpc>
              <a:buClr>
                <a:srgbClr val="585858"/>
              </a:buClr>
              <a:buFont typeface="Arial"/>
              <a:buChar char="○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Two</a:t>
            </a: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1462320" lvl="2" indent="-408240" algn="ctr" defTabSz="914400">
              <a:lnSpc>
                <a:spcPct val="115000"/>
              </a:lnSpc>
              <a:buClr>
                <a:srgbClr val="585858"/>
              </a:buClr>
              <a:buFont typeface="Arial"/>
              <a:buChar char="■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Three</a:t>
            </a: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1919520" lvl="3" indent="-408240" algn="ctr" defTabSz="914400">
              <a:lnSpc>
                <a:spcPct val="115000"/>
              </a:lnSpc>
              <a:buClr>
                <a:srgbClr val="585858"/>
              </a:buClr>
              <a:buFont typeface="Arial"/>
              <a:buChar char="●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Four</a:t>
            </a: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2376720" lvl="4" indent="-408240" algn="ctr" defTabSz="914400">
              <a:lnSpc>
                <a:spcPct val="115000"/>
              </a:lnSpc>
              <a:buClr>
                <a:srgbClr val="585858"/>
              </a:buClr>
              <a:buFont typeface="Arial"/>
              <a:buChar char="○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Five</a:t>
            </a: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sldNum" idx="14"/>
          </p:nvPr>
        </p:nvSpPr>
        <p:spPr>
          <a:xfrm>
            <a:off x="8684280" y="4700880"/>
            <a:ext cx="336600" cy="3178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E4FC42C-4E67-438A-AE6E-4B11352357D5}" type="slidenum">
              <a: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ldNum" idx="15"/>
          </p:nvPr>
        </p:nvSpPr>
        <p:spPr>
          <a:xfrm>
            <a:off x="8684280" y="4700880"/>
            <a:ext cx="336600" cy="3178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8661F4D-19EE-4B1A-8144-F3ECB7587515}" type="slidenum">
              <a: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Arial"/>
              </a:rPr>
              <a:t>Title Text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57200" indent="-343080" defTabSz="914400">
              <a:lnSpc>
                <a:spcPct val="115000"/>
              </a:lnSpc>
              <a:buClr>
                <a:srgbClr val="585858"/>
              </a:buClr>
              <a:buFont typeface="Arial"/>
              <a:buChar char="●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One</a:t>
            </a: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1005120" lvl="1" indent="-408240" defTabSz="914400">
              <a:lnSpc>
                <a:spcPct val="115000"/>
              </a:lnSpc>
              <a:buClr>
                <a:srgbClr val="585858"/>
              </a:buClr>
              <a:buFont typeface="Arial"/>
              <a:buChar char="○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Two</a:t>
            </a: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1462320" lvl="2" indent="-408240" defTabSz="914400">
              <a:lnSpc>
                <a:spcPct val="115000"/>
              </a:lnSpc>
              <a:buClr>
                <a:srgbClr val="585858"/>
              </a:buClr>
              <a:buFont typeface="Arial"/>
              <a:buChar char="■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Three</a:t>
            </a: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1919520" lvl="3" indent="-408240" defTabSz="914400">
              <a:lnSpc>
                <a:spcPct val="115000"/>
              </a:lnSpc>
              <a:buClr>
                <a:srgbClr val="585858"/>
              </a:buClr>
              <a:buFont typeface="Arial"/>
              <a:buChar char="●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Four</a:t>
            </a: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2376720" lvl="4" indent="-408240" defTabSz="914400">
              <a:lnSpc>
                <a:spcPct val="115000"/>
              </a:lnSpc>
              <a:buClr>
                <a:srgbClr val="585858"/>
              </a:buClr>
              <a:buFont typeface="Arial"/>
              <a:buChar char="○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Five</a:t>
            </a: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sldNum" idx="16"/>
          </p:nvPr>
        </p:nvSpPr>
        <p:spPr>
          <a:xfrm>
            <a:off x="8684280" y="4700880"/>
            <a:ext cx="336600" cy="3178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F453CC5-6D17-4114-AA9E-2814F677E2EE}" type="slidenum">
              <a: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Arial"/>
              </a:rPr>
              <a:t>Title Text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57200" indent="-317520" defTabSz="914400">
              <a:lnSpc>
                <a:spcPct val="115000"/>
              </a:lnSpc>
              <a:buClr>
                <a:srgbClr val="585858"/>
              </a:buClr>
              <a:buFont typeface="Arial"/>
              <a:buChar char="●"/>
            </a:pPr>
            <a:r>
              <a:rPr lang="en-US" sz="14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One</a:t>
            </a:r>
            <a:endParaRPr lang="en-US" sz="14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965160" lvl="1" indent="-355680" defTabSz="914400">
              <a:lnSpc>
                <a:spcPct val="115000"/>
              </a:lnSpc>
              <a:buClr>
                <a:srgbClr val="585858"/>
              </a:buClr>
              <a:buFont typeface="Arial"/>
              <a:buChar char="○"/>
            </a:pPr>
            <a:r>
              <a:rPr lang="en-US" sz="14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Two</a:t>
            </a:r>
            <a:endParaRPr lang="en-US" sz="14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1422360" lvl="2" indent="-355680" defTabSz="914400">
              <a:lnSpc>
                <a:spcPct val="115000"/>
              </a:lnSpc>
              <a:buClr>
                <a:srgbClr val="585858"/>
              </a:buClr>
              <a:buFont typeface="Arial"/>
              <a:buChar char="■"/>
            </a:pPr>
            <a:r>
              <a:rPr lang="en-US" sz="14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Three</a:t>
            </a:r>
            <a:endParaRPr lang="en-US" sz="14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1879560" lvl="3" indent="-355680" defTabSz="914400">
              <a:lnSpc>
                <a:spcPct val="115000"/>
              </a:lnSpc>
              <a:buClr>
                <a:srgbClr val="585858"/>
              </a:buClr>
              <a:buFont typeface="Arial"/>
              <a:buChar char="●"/>
            </a:pPr>
            <a:r>
              <a:rPr lang="en-US" sz="14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Four</a:t>
            </a:r>
            <a:endParaRPr lang="en-US" sz="14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2336760" lvl="4" indent="-355680" defTabSz="914400">
              <a:lnSpc>
                <a:spcPct val="115000"/>
              </a:lnSpc>
              <a:buClr>
                <a:srgbClr val="585858"/>
              </a:buClr>
              <a:buFont typeface="Arial"/>
              <a:buChar char="○"/>
            </a:pPr>
            <a:r>
              <a:rPr lang="en-US" sz="14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Five</a:t>
            </a:r>
            <a:endParaRPr lang="en-US" sz="14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lnSpc>
                <a:spcPct val="11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1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1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1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1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1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1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</a:rPr>
              <a:t>Seventh Outline Level</a:t>
            </a:r>
          </a:p>
        </p:txBody>
      </p:sp>
      <p:sp>
        <p:nvSpPr>
          <p:cNvPr id="77" name="PlaceHolder 4"/>
          <p:cNvSpPr>
            <a:spLocks noGrp="1"/>
          </p:cNvSpPr>
          <p:nvPr>
            <p:ph type="sldNum" idx="17"/>
          </p:nvPr>
        </p:nvSpPr>
        <p:spPr>
          <a:xfrm>
            <a:off x="8684280" y="4700880"/>
            <a:ext cx="336600" cy="3178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B68857C-01D6-4E7F-BE4B-846F975FB6F0}" type="slidenum">
              <a: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Arial"/>
              </a:rPr>
              <a:t>Title Text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ldNum" idx="18"/>
          </p:nvPr>
        </p:nvSpPr>
        <p:spPr>
          <a:xfrm>
            <a:off x="8684280" y="4700880"/>
            <a:ext cx="336600" cy="3178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DFBD446-434D-447A-A198-A0E721E99780}" type="slidenum">
              <a: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Arial"/>
              </a:rPr>
              <a:t>Title Text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57200" indent="-304920" defTabSz="914400">
              <a:lnSpc>
                <a:spcPct val="115000"/>
              </a:lnSpc>
              <a:buClr>
                <a:srgbClr val="585858"/>
              </a:buClr>
              <a:buFont typeface="Arial"/>
              <a:buChar char="●"/>
            </a:pPr>
            <a:r>
              <a:rPr lang="en-US" sz="12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One</a:t>
            </a:r>
            <a:endParaRPr lang="en-US" sz="12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914400" lvl="1" indent="-304920" defTabSz="914400">
              <a:lnSpc>
                <a:spcPct val="115000"/>
              </a:lnSpc>
              <a:buClr>
                <a:srgbClr val="585858"/>
              </a:buClr>
              <a:buFont typeface="Arial"/>
              <a:buChar char="○"/>
            </a:pPr>
            <a:r>
              <a:rPr lang="en-US" sz="12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Two</a:t>
            </a:r>
            <a:endParaRPr lang="en-US" sz="12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1371600" lvl="2" indent="-304920" defTabSz="914400">
              <a:lnSpc>
                <a:spcPct val="115000"/>
              </a:lnSpc>
              <a:buClr>
                <a:srgbClr val="585858"/>
              </a:buClr>
              <a:buFont typeface="Arial"/>
              <a:buChar char="■"/>
            </a:pPr>
            <a:r>
              <a:rPr lang="en-US" sz="12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Three</a:t>
            </a:r>
            <a:endParaRPr lang="en-US" sz="12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1828800" lvl="3" indent="-304920" defTabSz="914400">
              <a:lnSpc>
                <a:spcPct val="115000"/>
              </a:lnSpc>
              <a:buClr>
                <a:srgbClr val="585858"/>
              </a:buClr>
              <a:buFont typeface="Arial"/>
              <a:buChar char="●"/>
            </a:pPr>
            <a:r>
              <a:rPr lang="en-US" sz="12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Four</a:t>
            </a:r>
            <a:endParaRPr lang="en-US" sz="12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2286000" lvl="4" indent="-304920" defTabSz="914400">
              <a:lnSpc>
                <a:spcPct val="115000"/>
              </a:lnSpc>
              <a:buClr>
                <a:srgbClr val="585858"/>
              </a:buClr>
              <a:buFont typeface="Arial"/>
              <a:buChar char="○"/>
            </a:pPr>
            <a:r>
              <a:rPr lang="en-US" sz="12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Five</a:t>
            </a:r>
            <a:endParaRPr lang="en-US" sz="12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19"/>
          </p:nvPr>
        </p:nvSpPr>
        <p:spPr>
          <a:xfrm>
            <a:off x="8684280" y="4700880"/>
            <a:ext cx="336600" cy="3178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9965D73-AE37-41E2-9B95-85937023D2DC}" type="slidenum">
              <a: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>
                <a:solidFill>
                  <a:srgbClr val="000000"/>
                </a:solidFill>
                <a:latin typeface="Arial"/>
                <a:ea typeface="Arial"/>
              </a:rPr>
              <a:t>Title Text</a:t>
            </a:r>
            <a:endParaRPr lang="en-US" sz="4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ldNum" idx="20"/>
          </p:nvPr>
        </p:nvSpPr>
        <p:spPr>
          <a:xfrm>
            <a:off x="8684280" y="4700880"/>
            <a:ext cx="336600" cy="3178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466AC8B-4DBA-4666-A51A-9C2976AD1130}" type="slidenum">
              <a: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rgbClr val="EEEEEE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strike="noStrike" spc="-1">
                <a:solidFill>
                  <a:srgbClr val="000000"/>
                </a:solidFill>
                <a:latin typeface="Arial"/>
                <a:ea typeface="Arial"/>
              </a:rPr>
              <a:t>Title Text</a:t>
            </a:r>
            <a:endParaRPr lang="en-US" sz="4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265680" y="2802960"/>
            <a:ext cx="4044960" cy="12348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343080" indent="-22860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1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One</a:t>
            </a:r>
            <a:endParaRPr lang="en-US" sz="21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343080" indent="25416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1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Two</a:t>
            </a:r>
            <a:endParaRPr lang="en-US" sz="21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343080" indent="71136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1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Three</a:t>
            </a:r>
            <a:endParaRPr lang="en-US" sz="21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343080" indent="116856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1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Four</a:t>
            </a:r>
            <a:endParaRPr lang="en-US" sz="21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343080" indent="162576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1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Five</a:t>
            </a:r>
            <a:endParaRPr lang="en-US" sz="21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/>
          <a:p>
            <a:pPr marL="432000" indent="-324000">
              <a:lnSpc>
                <a:spcPct val="11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1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1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1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1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1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1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</a:rPr>
              <a:t>Seventh Outline Level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sldNum" idx="21"/>
          </p:nvPr>
        </p:nvSpPr>
        <p:spPr>
          <a:xfrm>
            <a:off x="8684280" y="4700880"/>
            <a:ext cx="336600" cy="3178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B279056-2257-4D01-A98A-DDA90BA2CDA1}" type="slidenum">
              <a: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/>
          <a:p>
            <a:pPr marL="228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One</a:t>
            </a: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1005120" lvl="1" indent="-408240" defTabSz="914400">
              <a:lnSpc>
                <a:spcPct val="100000"/>
              </a:lnSpc>
              <a:buClr>
                <a:srgbClr val="585858"/>
              </a:buClr>
              <a:buFont typeface="Arial"/>
              <a:buChar char="○"/>
              <a:tabLst>
                <a:tab pos="0" algn="l"/>
              </a:tabLst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Two</a:t>
            </a: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1462320" lvl="2" indent="-408240" defTabSz="914400">
              <a:lnSpc>
                <a:spcPct val="100000"/>
              </a:lnSpc>
              <a:buClr>
                <a:srgbClr val="585858"/>
              </a:buClr>
              <a:buFont typeface="Arial"/>
              <a:buChar char="■"/>
              <a:tabLst>
                <a:tab pos="0" algn="l"/>
              </a:tabLst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Three</a:t>
            </a: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1919520" lvl="3" indent="-408240" defTabSz="914400">
              <a:lnSpc>
                <a:spcPct val="100000"/>
              </a:lnSpc>
              <a:buClr>
                <a:srgbClr val="585858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Four</a:t>
            </a: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2376720" lvl="4" indent="-408240" defTabSz="914400">
              <a:lnSpc>
                <a:spcPct val="100000"/>
              </a:lnSpc>
              <a:buClr>
                <a:srgbClr val="585858"/>
              </a:buClr>
              <a:buFont typeface="Arial"/>
              <a:buChar char="○"/>
              <a:tabLst>
                <a:tab pos="0" algn="l"/>
              </a:tabLst>
            </a:pPr>
            <a:r>
              <a:rPr lang="en-US" sz="18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Body Level Five</a:t>
            </a:r>
            <a:endParaRPr lang="en-US" sz="1800" b="0" strike="noStrike" spc="-1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ldNum" idx="22"/>
          </p:nvPr>
        </p:nvSpPr>
        <p:spPr>
          <a:xfrm>
            <a:off x="8684280" y="4700880"/>
            <a:ext cx="336600" cy="3178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937D26C-1695-479B-BE38-C663D5306FDA}" type="slidenum">
              <a:rPr lang="en-US" sz="1000" b="0" strike="noStrike" spc="-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311760" y="230400"/>
            <a:ext cx="8520120" cy="205236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CS 6476 Project 1</a:t>
            </a:r>
            <a:endParaRPr lang="en-US" sz="5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311760" y="2320200"/>
            <a:ext cx="8520120" cy="179712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rmAutofit fontScale="93550"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Auryn Yamamura</a:t>
            </a:r>
            <a:endParaRPr lang="en-US" sz="28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ayamamura6@gatech.edu</a:t>
            </a:r>
            <a:endParaRPr lang="en-US" sz="28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ayamamura6</a:t>
            </a:r>
            <a:endParaRPr lang="en-US" sz="28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904154249</a:t>
            </a:r>
            <a:endParaRPr lang="en-US" sz="28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C8E1E0F-B8C5-CD10-B9B0-22480E78C574}"/>
              </a:ext>
            </a:extLst>
          </p:cNvPr>
          <p:cNvSpPr txBox="1"/>
          <p:nvPr/>
        </p:nvSpPr>
        <p:spPr>
          <a:xfrm>
            <a:off x="450109" y="56251"/>
            <a:ext cx="82434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ctr" defTabSz="9144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altLang="zh-CN" sz="1800" b="0" u="none" strike="noStrike" dirty="0">
                <a:solidFill>
                  <a:srgbClr val="C9211E"/>
                </a:solidFill>
                <a:uFillTx/>
                <a:latin typeface="Arial"/>
                <a:ea typeface="Arial"/>
              </a:rPr>
              <a:t>Warning: Do not delete slides.</a:t>
            </a:r>
            <a:br>
              <a:rPr lang="en-US" altLang="zh-CN" sz="1800" dirty="0"/>
            </a:br>
            <a:r>
              <a:rPr lang="en-US" altLang="zh-CN" sz="1800" b="1" u="none" strike="noStrike" dirty="0">
                <a:solidFill>
                  <a:srgbClr val="C9211E"/>
                </a:solidFill>
                <a:uFillTx/>
                <a:latin typeface="Arial"/>
                <a:ea typeface="Arial"/>
              </a:rPr>
              <a:t>This includes extra credit slides and any problems you do not complete</a:t>
            </a:r>
            <a:r>
              <a:rPr lang="en-US" altLang="zh-CN" sz="1800" b="0" u="none" strike="noStrike" dirty="0">
                <a:solidFill>
                  <a:srgbClr val="C9211E"/>
                </a:solidFill>
                <a:uFillTx/>
                <a:latin typeface="Arial"/>
                <a:ea typeface="Arial"/>
              </a:rPr>
              <a:t>. </a:t>
            </a:r>
            <a:r>
              <a:rPr lang="en-US" altLang="zh-CN" sz="1800" b="1" u="none" strike="noStrike" dirty="0">
                <a:solidFill>
                  <a:srgbClr val="C9211E"/>
                </a:solidFill>
                <a:uFillTx/>
                <a:latin typeface="Arial"/>
                <a:ea typeface="Arial"/>
              </a:rPr>
              <a:t>All problems, including extra credit, must be assigned to a slide on </a:t>
            </a:r>
            <a:r>
              <a:rPr lang="en-US" altLang="zh-CN" sz="1800" b="1" u="none" strike="noStrike" dirty="0" err="1">
                <a:solidFill>
                  <a:srgbClr val="C9211E"/>
                </a:solidFill>
                <a:uFillTx/>
                <a:latin typeface="Arial"/>
                <a:ea typeface="Arial"/>
              </a:rPr>
              <a:t>Gradescope</a:t>
            </a:r>
            <a:r>
              <a:rPr lang="en-US" altLang="zh-CN" sz="1800" b="0" u="none" strike="noStrike" dirty="0">
                <a:solidFill>
                  <a:srgbClr val="C9211E"/>
                </a:solidFill>
                <a:uFillTx/>
                <a:latin typeface="Arial"/>
                <a:ea typeface="Arial"/>
              </a:rPr>
              <a:t>.  Failure to follow this will result in a penalty</a:t>
            </a:r>
            <a:endParaRPr lang="en-US" altLang="zh-CN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defTabSz="8776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90" b="0" strike="noStrike" spc="-1">
                <a:solidFill>
                  <a:srgbClr val="000000"/>
                </a:solidFill>
                <a:latin typeface="Arial"/>
                <a:ea typeface="Arial"/>
              </a:rPr>
              <a:t>Part 1: Image filtering</a:t>
            </a:r>
            <a:endParaRPr lang="en-US" sz="269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r>
              <a:rPr lang="en-US" sz="1400" b="0" strike="noStrike" spc="-1" dirty="0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1D: </a:t>
            </a: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r>
              <a:rPr lang="en-US" sz="1400" b="0" strike="noStrike" spc="-1" dirty="0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2D: </a:t>
            </a: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r>
              <a:rPr lang="en-US" sz="1400" b="0" strike="noStrike" spc="-1" dirty="0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[Describe your implementation of my_conv2d_numpy() in words. Make sure to discuss padding, and the operations used between the filter and image.]</a:t>
            </a: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r>
              <a:rPr lang="en-US" sz="1400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I used </a:t>
            </a:r>
            <a:r>
              <a:rPr lang="en-US" sz="1400" spc="-1" dirty="0" err="1">
                <a:solidFill>
                  <a:schemeClr val="accent2">
                    <a:lumOff val="21760"/>
                  </a:schemeClr>
                </a:solidFill>
                <a:latin typeface="Arial"/>
              </a:rPr>
              <a:t>np.pad</a:t>
            </a:r>
            <a:r>
              <a:rPr lang="en-US" sz="1400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 to pad the edges of the image with zeros (to be precise, I added k-1 zeros to the height, and j-1 zeros to the width).</a:t>
            </a: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r>
              <a:rPr lang="en-US" sz="1400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Afterwards I used a triple for-loop to slide my filter across the image, multiplying elementwise and storing the sum to a new image called ”</a:t>
            </a:r>
            <a:r>
              <a:rPr lang="en-US" sz="1400" spc="-1" dirty="0" err="1">
                <a:solidFill>
                  <a:schemeClr val="accent2">
                    <a:lumOff val="21760"/>
                  </a:schemeClr>
                </a:solidFill>
                <a:latin typeface="Arial"/>
              </a:rPr>
              <a:t>filtered_img</a:t>
            </a:r>
            <a:r>
              <a:rPr lang="en-US" sz="1400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”.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C458DD-B944-F78B-0242-AC359BDC9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85" y="1625931"/>
            <a:ext cx="3543300" cy="4191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E7BBB1E-D223-4CD6-FA09-FAA44E266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935" y="2180031"/>
            <a:ext cx="2286000" cy="2235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defTabSz="8776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90" b="0" strike="noStrike" spc="-1">
                <a:solidFill>
                  <a:srgbClr val="000000"/>
                </a:solidFill>
                <a:latin typeface="Arial"/>
                <a:ea typeface="Arial"/>
              </a:rPr>
              <a:t>Part 1: Image filtering</a:t>
            </a:r>
            <a:endParaRPr lang="en-US" sz="269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400" b="1" strike="noStrike" spc="-1" dirty="0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Small blur with a box filter</a:t>
            </a: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</a:endParaRPr>
          </a:p>
          <a:p>
            <a:pPr>
              <a:lnSpc>
                <a:spcPct val="115000"/>
              </a:lnSpc>
              <a:spcBef>
                <a:spcPts val="1599"/>
              </a:spcBef>
              <a:tabLst>
                <a:tab pos="0" algn="l"/>
              </a:tabLst>
            </a:pPr>
            <a:r>
              <a:rPr lang="en-US" sz="1400" spc="-1" dirty="0">
                <a:solidFill>
                  <a:schemeClr val="accent2">
                    <a:lumOff val="21760"/>
                  </a:schemeClr>
                </a:solidFill>
              </a:rPr>
              <a:t>Briefly Explain what this filter did:</a:t>
            </a: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r>
              <a:rPr lang="en-US" sz="1400" b="0" strike="noStrike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This filter slightly blurre</a:t>
            </a:r>
            <a:r>
              <a:rPr lang="en-US" sz="1400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d the image by removing some high frequencies present in the image.</a:t>
            </a: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400" b="1" strike="noStrike" spc="-1" dirty="0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Identity filter</a:t>
            </a: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r>
              <a:rPr lang="en-US" sz="1400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Briefly Explain what this filter did:</a:t>
            </a: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r>
              <a:rPr lang="en-US" sz="1400" b="0" strike="noStrike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This </a:t>
            </a:r>
            <a:r>
              <a:rPr lang="en-US" sz="1400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filter return the identity of the image (aka the input image).</a:t>
            </a: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pic>
        <p:nvPicPr>
          <p:cNvPr id="7" name="Picture 6" descr="A close up of a cat&#10;&#10;AI-generated content may be incorrect.">
            <a:extLst>
              <a:ext uri="{FF2B5EF4-FFF2-40B4-BE49-F238E27FC236}">
                <a16:creationId xmlns:a16="http://schemas.microsoft.com/office/drawing/2014/main" id="{3E2D789A-B3F0-179D-5D09-D04968B71D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510" y="1771650"/>
            <a:ext cx="1816100" cy="1600200"/>
          </a:xfrm>
          <a:prstGeom prst="rect">
            <a:avLst/>
          </a:prstGeom>
        </p:spPr>
      </p:pic>
      <p:pic>
        <p:nvPicPr>
          <p:cNvPr id="9" name="Picture 8" descr="A close-up of a cat&#10;&#10;AI-generated content may be incorrect.">
            <a:extLst>
              <a:ext uri="{FF2B5EF4-FFF2-40B4-BE49-F238E27FC236}">
                <a16:creationId xmlns:a16="http://schemas.microsoft.com/office/drawing/2014/main" id="{18D9928F-F6A8-A10C-BF32-D2DD0E9D4F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030" y="1771650"/>
            <a:ext cx="181610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defTabSz="8776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90" b="0" strike="noStrike" spc="-1">
                <a:solidFill>
                  <a:srgbClr val="000000"/>
                </a:solidFill>
                <a:latin typeface="Arial"/>
                <a:ea typeface="Arial"/>
              </a:rPr>
              <a:t>Part 1: Image filtering</a:t>
            </a:r>
            <a:endParaRPr lang="en-US" sz="269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3999600" cy="364824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400" b="1" strike="noStrike" spc="-1" dirty="0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Sobel filter</a:t>
            </a: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</a:endParaRPr>
          </a:p>
          <a:p>
            <a:pPr>
              <a:lnSpc>
                <a:spcPct val="115000"/>
              </a:lnSpc>
              <a:spcBef>
                <a:spcPts val="1599"/>
              </a:spcBef>
              <a:tabLst>
                <a:tab pos="0" algn="l"/>
              </a:tabLst>
            </a:pPr>
            <a:r>
              <a:rPr lang="en-US" sz="1400" spc="-1" dirty="0">
                <a:solidFill>
                  <a:schemeClr val="accent2">
                    <a:lumOff val="21760"/>
                  </a:schemeClr>
                </a:solidFill>
              </a:rPr>
              <a:t>Briefly Explain what this filter did:</a:t>
            </a:r>
          </a:p>
          <a:p>
            <a:pPr>
              <a:lnSpc>
                <a:spcPct val="115000"/>
              </a:lnSpc>
              <a:spcBef>
                <a:spcPts val="1599"/>
              </a:spcBef>
              <a:tabLst>
                <a:tab pos="0" algn="l"/>
              </a:tabLst>
            </a:pPr>
            <a:r>
              <a:rPr lang="en-US" sz="1400" spc="-1" dirty="0">
                <a:solidFill>
                  <a:schemeClr val="accent2">
                    <a:lumOff val="21760"/>
                  </a:schemeClr>
                </a:solidFill>
              </a:rPr>
              <a:t>This filter takes a 2D gradient in the x-direction, thus performing vertical edge detection.</a:t>
            </a: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/>
          </p:nvPr>
        </p:nvSpPr>
        <p:spPr>
          <a:xfrm>
            <a:off x="4832280" y="1152360"/>
            <a:ext cx="3999600" cy="373714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400" b="1" strike="noStrike" spc="-1" dirty="0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Discrete Laplacian filter</a:t>
            </a: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  <a:ea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</a:endParaRPr>
          </a:p>
          <a:p>
            <a:pPr>
              <a:lnSpc>
                <a:spcPct val="115000"/>
              </a:lnSpc>
              <a:spcBef>
                <a:spcPts val="1599"/>
              </a:spcBef>
              <a:tabLst>
                <a:tab pos="0" algn="l"/>
              </a:tabLst>
            </a:pPr>
            <a:r>
              <a:rPr lang="en-US" sz="1400" spc="-1" dirty="0">
                <a:solidFill>
                  <a:schemeClr val="accent2">
                    <a:lumOff val="21760"/>
                  </a:schemeClr>
                </a:solidFill>
              </a:rPr>
              <a:t>Briefly Explain what this filter did:</a:t>
            </a: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r>
              <a:rPr lang="en-US" sz="1400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This filter also performs a 2D gradient with no bias to direction, resulting in general edge detection.</a:t>
            </a:r>
          </a:p>
        </p:txBody>
      </p:sp>
      <p:pic>
        <p:nvPicPr>
          <p:cNvPr id="3" name="Picture 2" descr="A close up of a cat's face&#10;&#10;AI-generated content may be incorrect.">
            <a:extLst>
              <a:ext uri="{FF2B5EF4-FFF2-40B4-BE49-F238E27FC236}">
                <a16:creationId xmlns:a16="http://schemas.microsoft.com/office/drawing/2014/main" id="{1CC08AE6-06C9-1BDB-E35D-D665F5196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3070" y="1771650"/>
            <a:ext cx="1816100" cy="1600200"/>
          </a:xfrm>
          <a:prstGeom prst="rect">
            <a:avLst/>
          </a:prstGeom>
        </p:spPr>
      </p:pic>
      <p:pic>
        <p:nvPicPr>
          <p:cNvPr id="5" name="Picture 4" descr="A close-up of a cat's face&#10;&#10;AI-generated content may be incorrect.">
            <a:extLst>
              <a:ext uri="{FF2B5EF4-FFF2-40B4-BE49-F238E27FC236}">
                <a16:creationId xmlns:a16="http://schemas.microsoft.com/office/drawing/2014/main" id="{DD4E5399-1646-7268-D4EF-38C690B984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030" y="1771650"/>
            <a:ext cx="181610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defTabSz="8776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90" b="0" strike="noStrike" spc="-1">
                <a:solidFill>
                  <a:srgbClr val="000000"/>
                </a:solidFill>
                <a:latin typeface="Arial"/>
                <a:ea typeface="Arial"/>
              </a:rPr>
              <a:t>Part 1: Hybrid images</a:t>
            </a:r>
            <a:endParaRPr lang="en-US" sz="269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r>
              <a:rPr lang="en-US" sz="1400" b="0" strike="noStrike" spc="-1" dirty="0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[Describe the three main steps of </a:t>
            </a:r>
            <a:r>
              <a:rPr lang="en-US" sz="1400" b="0" strike="noStrike" spc="-1" dirty="0" err="1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create_hybrid_image</a:t>
            </a:r>
            <a:r>
              <a:rPr lang="en-US" sz="1400" b="0" strike="noStrike" spc="-1" dirty="0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() here. Explain how to ensure the output values are within the appropriate range for matplotlib visualizations.]</a:t>
            </a:r>
          </a:p>
          <a:p>
            <a:pPr marL="342900" indent="-342900" defTabSz="914400">
              <a:lnSpc>
                <a:spcPct val="115000"/>
              </a:lnSpc>
              <a:spcBef>
                <a:spcPts val="1599"/>
              </a:spcBef>
              <a:buAutoNum type="arabicPeriod"/>
              <a:tabLst>
                <a:tab pos="0" algn="l"/>
              </a:tabLst>
            </a:pPr>
            <a:r>
              <a:rPr lang="en-US" sz="1400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Extract low frequencies from image a by convolving with Gaussian filter (i.e. blurring).</a:t>
            </a:r>
          </a:p>
          <a:p>
            <a:pPr marL="342900" indent="-342900" defTabSz="914400">
              <a:lnSpc>
                <a:spcPct val="115000"/>
              </a:lnSpc>
              <a:spcBef>
                <a:spcPts val="1599"/>
              </a:spcBef>
              <a:buAutoNum type="arabicPeriod"/>
              <a:tabLst>
                <a:tab pos="0" algn="l"/>
              </a:tabLst>
            </a:pPr>
            <a:r>
              <a:rPr lang="en-US" sz="1400" b="0" strike="noStrike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Extract high </a:t>
            </a:r>
            <a:r>
              <a:rPr lang="en-US" sz="1400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frequencies from image b by subtracting the result of our Gaussian blur from the input image</a:t>
            </a:r>
          </a:p>
          <a:p>
            <a:pPr marL="342900" indent="-342900" defTabSz="914400">
              <a:lnSpc>
                <a:spcPct val="115000"/>
              </a:lnSpc>
              <a:spcBef>
                <a:spcPts val="1599"/>
              </a:spcBef>
              <a:buAutoNum type="arabicPeriod"/>
              <a:tabLst>
                <a:tab pos="0" algn="l"/>
              </a:tabLst>
            </a:pPr>
            <a:r>
              <a:rPr lang="en-US" sz="1400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Add the low and high frequencies of images a and b together and clip the value between 0 and 1 using `</a:t>
            </a:r>
            <a:r>
              <a:rPr lang="en-US" sz="1400" spc="-1" dirty="0" err="1">
                <a:solidFill>
                  <a:schemeClr val="accent2">
                    <a:lumOff val="21760"/>
                  </a:schemeClr>
                </a:solidFill>
                <a:latin typeface="Arial"/>
              </a:rPr>
              <a:t>np.clip</a:t>
            </a:r>
            <a:r>
              <a:rPr lang="en-US" sz="1400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`.</a:t>
            </a: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400" b="1" strike="noStrike" spc="-1" dirty="0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Cat + Dog</a:t>
            </a: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  <a:ea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r>
              <a:rPr lang="en-US" sz="1400" b="0" strike="noStrike" spc="-1" dirty="0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Cutoff frequency: 6</a:t>
            </a: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pic>
        <p:nvPicPr>
          <p:cNvPr id="3" name="Picture 2" descr="A close up of a cat&#10;&#10;AI-generated content may be incorrect.">
            <a:extLst>
              <a:ext uri="{FF2B5EF4-FFF2-40B4-BE49-F238E27FC236}">
                <a16:creationId xmlns:a16="http://schemas.microsoft.com/office/drawing/2014/main" id="{B296F5CA-3649-7239-3F0D-1110CCF005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330" y="1543050"/>
            <a:ext cx="26035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defTabSz="8776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90" b="0" strike="noStrike" spc="-1">
                <a:solidFill>
                  <a:srgbClr val="000000"/>
                </a:solidFill>
                <a:latin typeface="Arial"/>
                <a:ea typeface="Arial"/>
              </a:rPr>
              <a:t>Part 1: Hybrid images</a:t>
            </a:r>
            <a:endParaRPr lang="en-US" sz="269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400" b="1" strike="noStrike" spc="-1" dirty="0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Motorcycle + Bicycle</a:t>
            </a: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  <a:ea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r>
              <a:rPr lang="en-US" sz="1400" b="0" strike="noStrike" spc="-1" dirty="0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Cutoff frequency: 5</a:t>
            </a: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400" b="1" strike="noStrike" spc="-1" dirty="0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Plane + Bird</a:t>
            </a: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  <a:ea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r>
              <a:rPr lang="en-US" sz="1400" b="0" strike="noStrike" spc="-1" dirty="0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Cutoff frequency: 10</a:t>
            </a: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pic>
        <p:nvPicPr>
          <p:cNvPr id="3" name="Picture 2" descr="A bicycle with a handlebar&#10;&#10;AI-generated content may be incorrect.">
            <a:extLst>
              <a:ext uri="{FF2B5EF4-FFF2-40B4-BE49-F238E27FC236}">
                <a16:creationId xmlns:a16="http://schemas.microsoft.com/office/drawing/2014/main" id="{72CAD463-F4A7-15CD-9147-6B90062EBC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60" y="1733550"/>
            <a:ext cx="2870200" cy="1905000"/>
          </a:xfrm>
          <a:prstGeom prst="rect">
            <a:avLst/>
          </a:prstGeom>
        </p:spPr>
      </p:pic>
      <p:pic>
        <p:nvPicPr>
          <p:cNvPr id="5" name="Picture 4" descr="A bird flying in the sky&#10;&#10;AI-generated content may be incorrect.">
            <a:extLst>
              <a:ext uri="{FF2B5EF4-FFF2-40B4-BE49-F238E27FC236}">
                <a16:creationId xmlns:a16="http://schemas.microsoft.com/office/drawing/2014/main" id="{7AABF84F-B9A6-1F1D-2ABA-EDC839DF8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4630" y="1638300"/>
            <a:ext cx="2374900" cy="2095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defTabSz="8776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90" b="0" strike="noStrike" spc="-1">
                <a:solidFill>
                  <a:srgbClr val="000000"/>
                </a:solidFill>
                <a:latin typeface="Arial"/>
                <a:ea typeface="Arial"/>
              </a:rPr>
              <a:t>Part 1: Hybrid images</a:t>
            </a:r>
            <a:endParaRPr lang="en-US" sz="269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400" b="1" strike="noStrike" spc="-1" dirty="0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Einstein + Marilyn</a:t>
            </a: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  <a:ea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r>
              <a:rPr lang="en-US" sz="1400" b="0" strike="noStrike" spc="-1" dirty="0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Cutoff frequency: 4</a:t>
            </a: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400" b="1" strike="noStrike" spc="-1" dirty="0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Submarine + Fish</a:t>
            </a: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  <a:ea typeface="Arial"/>
            </a:endParaRP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r>
              <a:rPr lang="en-US" sz="1400" b="0" strike="noStrike" spc="-1" dirty="0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Cutoff frequency: 7</a:t>
            </a: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pic>
        <p:nvPicPr>
          <p:cNvPr id="3" name="Picture 2" descr="A close-up of a person&#10;&#10;AI-generated content may be incorrect.">
            <a:extLst>
              <a:ext uri="{FF2B5EF4-FFF2-40B4-BE49-F238E27FC236}">
                <a16:creationId xmlns:a16="http://schemas.microsoft.com/office/drawing/2014/main" id="{0C424343-7429-C794-A1A7-72BD0BC607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59" y="1711060"/>
            <a:ext cx="1662385" cy="1959240"/>
          </a:xfrm>
          <a:prstGeom prst="rect">
            <a:avLst/>
          </a:prstGeom>
        </p:spPr>
      </p:pic>
      <p:pic>
        <p:nvPicPr>
          <p:cNvPr id="5" name="Picture 4" descr="A fish swimming in the water&#10;&#10;AI-generated content may be incorrect.">
            <a:extLst>
              <a:ext uri="{FF2B5EF4-FFF2-40B4-BE49-F238E27FC236}">
                <a16:creationId xmlns:a16="http://schemas.microsoft.com/office/drawing/2014/main" id="{B71D3696-E408-7178-D96D-197AF6772D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9100" y="1727200"/>
            <a:ext cx="2374900" cy="1943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defTabSz="8776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90" b="0" strike="noStrike" spc="-1">
                <a:solidFill>
                  <a:srgbClr val="000000"/>
                </a:solidFill>
                <a:latin typeface="Arial"/>
                <a:ea typeface="Arial"/>
              </a:rPr>
              <a:t>Part 2: Hybrid images with PyTorch</a:t>
            </a:r>
            <a:endParaRPr lang="en-US" sz="269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400" b="1" strike="noStrike" spc="-1" dirty="0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Cat + Dog</a:t>
            </a: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400" b="1" strike="noStrike" spc="-1" dirty="0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Motorcycle + Bicycle</a:t>
            </a: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pic>
        <p:nvPicPr>
          <p:cNvPr id="5" name="Picture 4" descr="A close up of a cat&#10;&#10;AI-generated content may be incorrect.">
            <a:extLst>
              <a:ext uri="{FF2B5EF4-FFF2-40B4-BE49-F238E27FC236}">
                <a16:creationId xmlns:a16="http://schemas.microsoft.com/office/drawing/2014/main" id="{932F6367-AD2D-A3BD-8297-E1E87865B1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810" y="1717380"/>
            <a:ext cx="2603500" cy="2286000"/>
          </a:xfrm>
          <a:prstGeom prst="rect">
            <a:avLst/>
          </a:prstGeom>
        </p:spPr>
      </p:pic>
      <p:pic>
        <p:nvPicPr>
          <p:cNvPr id="7" name="Picture 6" descr="A bicycle with a handlebar&#10;&#10;AI-generated content may be incorrect.">
            <a:extLst>
              <a:ext uri="{FF2B5EF4-FFF2-40B4-BE49-F238E27FC236}">
                <a16:creationId xmlns:a16="http://schemas.microsoft.com/office/drawing/2014/main" id="{C83F5634-424E-9005-A5E3-6561AC651B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3990" y="1907880"/>
            <a:ext cx="28702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defTabSz="8776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90" b="0" strike="noStrike" spc="-1">
                <a:solidFill>
                  <a:srgbClr val="000000"/>
                </a:solidFill>
                <a:latin typeface="Arial"/>
                <a:ea typeface="Arial"/>
              </a:rPr>
              <a:t>Part 2: Hybrid images with PyTorch</a:t>
            </a:r>
            <a:endParaRPr lang="en-US" sz="269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400" b="1" strike="noStrike" spc="-1" dirty="0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Plane + Bird</a:t>
            </a: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400" b="1" strike="noStrike" spc="-1" dirty="0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Einstein + Marilyn</a:t>
            </a: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pic>
        <p:nvPicPr>
          <p:cNvPr id="3" name="Picture 2" descr="A bird flying in the sky&#10;&#10;AI-generated content may be incorrect.">
            <a:extLst>
              <a:ext uri="{FF2B5EF4-FFF2-40B4-BE49-F238E27FC236}">
                <a16:creationId xmlns:a16="http://schemas.microsoft.com/office/drawing/2014/main" id="{478B983C-F9E0-9A76-7C97-41127540F5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110" y="1895640"/>
            <a:ext cx="2374900" cy="2095500"/>
          </a:xfrm>
          <a:prstGeom prst="rect">
            <a:avLst/>
          </a:prstGeom>
        </p:spPr>
      </p:pic>
      <p:pic>
        <p:nvPicPr>
          <p:cNvPr id="5" name="Picture 4" descr="A close-up of a person&#10;&#10;AI-generated content may be incorrect.">
            <a:extLst>
              <a:ext uri="{FF2B5EF4-FFF2-40B4-BE49-F238E27FC236}">
                <a16:creationId xmlns:a16="http://schemas.microsoft.com/office/drawing/2014/main" id="{E0E8D738-2FFC-6A4B-CDC6-535EE0D8CA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0900" y="1866317"/>
            <a:ext cx="1802880" cy="21248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defTabSz="8776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90" b="0" strike="noStrike" spc="-1">
                <a:solidFill>
                  <a:srgbClr val="000000"/>
                </a:solidFill>
                <a:latin typeface="Arial"/>
                <a:ea typeface="Arial"/>
              </a:rPr>
              <a:t>Part 2: Hybrid images with PyTorch</a:t>
            </a:r>
            <a:endParaRPr lang="en-US" sz="269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400" b="1" strike="noStrike" spc="-1" dirty="0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Submarine + Fish</a:t>
            </a: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400" b="1" strike="noStrike" spc="-1" dirty="0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Part 1 vs. Part 2</a:t>
            </a: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r>
              <a:rPr lang="en-US" sz="1400" b="0" strike="noStrike" spc="-1" dirty="0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[Compare the run-times of Parts 1 and 2 here, as calculated in project-1.ipynb. Which method is faster?]</a:t>
            </a: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r>
              <a:rPr lang="en-US" sz="1400" b="0" strike="noStrike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Part 1 Runtime: 6.744 seconds</a:t>
            </a: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r>
              <a:rPr lang="en-US" sz="1400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Part 2 Runtime: 2.313 seconds</a:t>
            </a: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r>
              <a:rPr lang="en-US" sz="1400" b="0" strike="noStrike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It is cl</a:t>
            </a:r>
            <a:r>
              <a:rPr lang="en-US" sz="1400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ear that the </a:t>
            </a:r>
            <a:r>
              <a:rPr lang="en-US" sz="1400" spc="-1" dirty="0" err="1">
                <a:solidFill>
                  <a:schemeClr val="accent2">
                    <a:lumOff val="21760"/>
                  </a:schemeClr>
                </a:solidFill>
                <a:latin typeface="Arial"/>
              </a:rPr>
              <a:t>Pytorch</a:t>
            </a:r>
            <a:r>
              <a:rPr lang="en-US" sz="1400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 implementation is noticeably faster than the naive NumPy implementation.</a:t>
            </a: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pic>
        <p:nvPicPr>
          <p:cNvPr id="3" name="Picture 2" descr="A fish swimming in the water&#10;&#10;AI-generated content may be incorrect.">
            <a:extLst>
              <a:ext uri="{FF2B5EF4-FFF2-40B4-BE49-F238E27FC236}">
                <a16:creationId xmlns:a16="http://schemas.microsoft.com/office/drawing/2014/main" id="{FC286BCE-F1EB-BFE8-6E2E-391F4268FD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470" y="1888830"/>
            <a:ext cx="2374900" cy="1943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defTabSz="8776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9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Part 3: Understanding input/output shapes in </a:t>
            </a:r>
            <a:r>
              <a:rPr lang="en-US" sz="2690" b="0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PyTorch</a:t>
            </a:r>
            <a:endParaRPr lang="en-US" sz="2690" b="0" strike="noStrike" spc="-1" dirty="0">
              <a:solidFill>
                <a:srgbClr val="000000"/>
              </a:solidFill>
              <a:latin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4" name="PlaceHolder 2"/>
              <p:cNvSpPr>
                <a:spLocks noGrp="1"/>
              </p:cNvSpPr>
              <p:nvPr>
                <p:ph/>
              </p:nvPr>
            </p:nvSpPr>
            <p:spPr>
              <a:xfrm>
                <a:off x="311760" y="1046598"/>
                <a:ext cx="3999600" cy="3416040"/>
              </a:xfrm>
              <a:prstGeom prst="rect">
                <a:avLst/>
              </a:prstGeom>
              <a:noFill/>
              <a:ln w="12600">
                <a:noFill/>
              </a:ln>
            </p:spPr>
            <p:txBody>
              <a:bodyPr lIns="91440" tIns="91440" rIns="91440" bIns="91440" anchor="t">
                <a:noAutofit/>
              </a:bodyPr>
              <a:lstStyle/>
              <a:p>
                <a:pPr>
                  <a:lnSpc>
                    <a:spcPct val="115000"/>
                  </a:lnSpc>
                  <a:tabLst>
                    <a:tab pos="0" algn="l"/>
                  </a:tabLst>
                </a:pPr>
                <a:r>
                  <a:rPr lang="en-US" sz="1400" spc="-1" dirty="0">
                    <a:solidFill>
                      <a:schemeClr val="accent2">
                        <a:lumOff val="21760"/>
                      </a:schemeClr>
                    </a:solidFill>
                  </a:rPr>
                  <a:t>[Consider a 1-channel 5x5 image and a 3x3 filter. What are the output dimensions of a convolution with the following parameters?</a:t>
                </a:r>
              </a:p>
              <a:p>
                <a:pPr indent="0" defTabSz="914400">
                  <a:lnSpc>
                    <a:spcPct val="115000"/>
                  </a:lnSpc>
                  <a:buNone/>
                  <a:tabLst>
                    <a:tab pos="0" algn="l"/>
                  </a:tabLst>
                </a:pPr>
                <a:endParaRPr lang="en-US" sz="1400" spc="-1" dirty="0">
                  <a:solidFill>
                    <a:schemeClr val="accent2">
                      <a:lumOff val="21760"/>
                    </a:schemeClr>
                  </a:solidFill>
                  <a:latin typeface="Arial"/>
                </a:endParaRPr>
              </a:p>
              <a:p>
                <a:pPr indent="0" defTabSz="914400">
                  <a:lnSpc>
                    <a:spcPct val="115000"/>
                  </a:lnSpc>
                  <a:buNone/>
                  <a:tabLst>
                    <a:tab pos="0" algn="l"/>
                  </a:tabLst>
                </a:pPr>
                <a:endParaRPr lang="en-US" sz="1400" spc="-1" dirty="0">
                  <a:solidFill>
                    <a:schemeClr val="accent2">
                      <a:lumOff val="21760"/>
                    </a:schemeClr>
                  </a:solidFill>
                  <a:latin typeface="Arial"/>
                </a:endParaRPr>
              </a:p>
              <a:p>
                <a:pPr indent="0" defTabSz="914400">
                  <a:lnSpc>
                    <a:spcPct val="115000"/>
                  </a:lnSpc>
                  <a:buNone/>
                  <a:tabLst>
                    <a:tab pos="0" algn="l"/>
                  </a:tabLst>
                </a:pPr>
                <a:endParaRPr lang="en-US" sz="1400" spc="-1" dirty="0">
                  <a:solidFill>
                    <a:schemeClr val="accent2">
                      <a:lumOff val="21760"/>
                    </a:schemeClr>
                  </a:solidFill>
                  <a:latin typeface="Arial"/>
                </a:endParaRPr>
              </a:p>
              <a:p>
                <a:pPr indent="0" defTabSz="914400">
                  <a:lnSpc>
                    <a:spcPct val="115000"/>
                  </a:lnSpc>
                  <a:buNone/>
                  <a:tabLst>
                    <a:tab pos="0" algn="l"/>
                  </a:tabLst>
                </a:pPr>
                <a:endParaRPr lang="en-US" sz="1400" spc="-1" dirty="0">
                  <a:solidFill>
                    <a:schemeClr val="accent2">
                      <a:lumOff val="21760"/>
                    </a:schemeClr>
                  </a:solidFill>
                  <a:latin typeface="Arial"/>
                </a:endParaRPr>
              </a:p>
              <a:p>
                <a:pPr indent="0" defTabSz="914400">
                  <a:lnSpc>
                    <a:spcPct val="115000"/>
                  </a:lnSpc>
                  <a:buNone/>
                  <a:tabLst>
                    <a:tab pos="0" algn="l"/>
                  </a:tabLst>
                </a:pPr>
                <a:endParaRPr lang="en-US" sz="1400" spc="-1" dirty="0">
                  <a:solidFill>
                    <a:schemeClr val="accent2">
                      <a:lumOff val="21760"/>
                    </a:schemeClr>
                  </a:solidFill>
                  <a:latin typeface="Arial"/>
                </a:endParaRPr>
              </a:p>
              <a:p>
                <a:pPr indent="0" defTabSz="914400">
                  <a:lnSpc>
                    <a:spcPct val="115000"/>
                  </a:lnSpc>
                  <a:buNone/>
                  <a:tabLst>
                    <a:tab pos="0" algn="l"/>
                  </a:tabLst>
                </a:pPr>
                <a:endParaRPr lang="en-US" sz="1400" spc="-1" dirty="0">
                  <a:solidFill>
                    <a:schemeClr val="accent2">
                      <a:lumOff val="21760"/>
                    </a:schemeClr>
                  </a:solidFill>
                  <a:latin typeface="Arial"/>
                </a:endParaRPr>
              </a:p>
              <a:p>
                <a:pPr indent="0" defTabSz="914400">
                  <a:lnSpc>
                    <a:spcPct val="115000"/>
                  </a:lnSpc>
                  <a:buNone/>
                  <a:tabLst>
                    <a:tab pos="0" algn="l"/>
                  </a:tabLst>
                </a:pPr>
                <a:endParaRPr lang="en-US" sz="1400" spc="-1" dirty="0">
                  <a:solidFill>
                    <a:schemeClr val="accent2">
                      <a:lumOff val="21760"/>
                    </a:schemeClr>
                  </a:solidFill>
                  <a:latin typeface="Arial"/>
                </a:endParaRPr>
              </a:p>
              <a:p>
                <a:pPr indent="0" defTabSz="914400">
                  <a:lnSpc>
                    <a:spcPct val="115000"/>
                  </a:lnSpc>
                  <a:buNone/>
                  <a:tabLst>
                    <a:tab pos="0" algn="l"/>
                  </a:tabLst>
                </a:pPr>
                <a:r>
                  <a:rPr lang="en-US" sz="1400" spc="-1" dirty="0">
                    <a:solidFill>
                      <a:schemeClr val="accent2">
                        <a:lumOff val="21760"/>
                      </a:schemeClr>
                    </a:solidFill>
                    <a:latin typeface="Arial"/>
                  </a:rPr>
                  <a:t>We know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400" b="0" i="1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b="0" i="1" spc="-1" smtClean="0">
                        <a:solidFill>
                          <a:schemeClr val="accent2">
                            <a:lumOff val="2176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pc="-1" smtClean="0">
                        <a:solidFill>
                          <a:schemeClr val="accent2">
                            <a:lumOff val="21760"/>
                          </a:schemeClr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spc="-1" dirty="0">
                    <a:solidFill>
                      <a:schemeClr val="accent2">
                        <a:lumOff val="21760"/>
                      </a:schemeClr>
                    </a:solidFill>
                    <a:latin typeface="Arial"/>
                  </a:rPr>
                  <a:t> (batch size) and</a:t>
                </a:r>
              </a:p>
              <a:p>
                <a:pPr indent="0" defTabSz="914400">
                  <a:lnSpc>
                    <a:spcPct val="115000"/>
                  </a:lnSpc>
                  <a:buNone/>
                  <a:tabLst>
                    <a:tab pos="0" algn="l"/>
                  </a:tabLst>
                </a:pPr>
                <a:r>
                  <a:rPr lang="en-US" sz="1400" b="0" spc="-1" dirty="0">
                    <a:solidFill>
                      <a:schemeClr val="accent2">
                        <a:lumOff val="21760"/>
                      </a:schemeClr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400" b="0" i="1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b="0" i="1" spc="-1" smtClean="0">
                        <a:solidFill>
                          <a:schemeClr val="accent2">
                            <a:lumOff val="2176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b="0" i="1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pc="-1" smtClean="0">
                                <a:solidFill>
                                  <a:schemeClr val="accent2">
                                    <a:lumOff val="2176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pc="-1" smtClean="0">
                                <a:solidFill>
                                  <a:schemeClr val="accent2">
                                    <a:lumOff val="2176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400" b="0" i="1" spc="-1" smtClean="0">
                                <a:solidFill>
                                  <a:schemeClr val="accent2">
                                    <a:lumOff val="2176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400" b="0" i="1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b="0" i="1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400" b="0" i="1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sz="1400" b="0" i="1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sz="1400" b="0" i="1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en-US" sz="1400" b="0" i="1" spc="-1" smtClean="0">
                        <a:solidFill>
                          <a:schemeClr val="accent2">
                            <a:lumOff val="21760"/>
                          </a:schemeClr>
                        </a:solidFill>
                        <a:latin typeface="Cambria Math" panose="02040503050406030204" pitchFamily="18" charset="0"/>
                      </a:rPr>
                      <m:t>+1,   </m:t>
                    </m:r>
                  </m:oMath>
                </a14:m>
                <a:r>
                  <a:rPr lang="en-US" sz="1400" spc="-1" dirty="0">
                    <a:solidFill>
                      <a:schemeClr val="accent2">
                        <a:lumOff val="21760"/>
                      </a:schemeClr>
                    </a:solidFill>
                    <a:latin typeface="Arial"/>
                  </a:rPr>
                  <a:t>  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pc="-1" dirty="0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pc="-1" dirty="0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400" b="0" i="1" spc="-1" dirty="0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b="0" i="1" spc="-1" dirty="0" smtClean="0">
                        <a:solidFill>
                          <a:schemeClr val="accent2">
                            <a:lumOff val="2176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b="0" i="1" spc="-1" dirty="0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pc="-1" dirty="0" smtClean="0">
                                <a:solidFill>
                                  <a:schemeClr val="accent2">
                                    <a:lumOff val="2176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pc="-1" dirty="0" smtClean="0">
                                <a:solidFill>
                                  <a:schemeClr val="accent2">
                                    <a:lumOff val="2176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pc="-1" dirty="0" smtClean="0">
                                <a:solidFill>
                                  <a:schemeClr val="accent2">
                                    <a:lumOff val="2176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400" b="0" i="1" spc="-1" dirty="0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b="0" i="1" spc="-1" dirty="0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400" b="0" i="1" spc="-1" dirty="0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sz="1400" b="0" i="1" spc="-1" dirty="0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sz="1400" b="0" i="1" spc="-1" dirty="0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en-US" sz="1400" b="0" i="1" spc="-1" dirty="0" smtClean="0">
                        <a:solidFill>
                          <a:schemeClr val="accent2">
                            <a:lumOff val="21760"/>
                          </a:schemeClr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sz="1400" spc="-1" dirty="0">
                  <a:solidFill>
                    <a:schemeClr val="accent2">
                      <a:lumOff val="21760"/>
                    </a:schemeClr>
                  </a:solidFill>
                  <a:latin typeface="Arial"/>
                </a:endParaRPr>
              </a:p>
              <a:p>
                <a:pPr indent="0" defTabSz="914400">
                  <a:lnSpc>
                    <a:spcPct val="115000"/>
                  </a:lnSpc>
                  <a:buNone/>
                  <a:tabLst>
                    <a:tab pos="0" algn="l"/>
                  </a:tabLst>
                </a:pPr>
                <a:r>
                  <a:rPr lang="en-US" sz="1400" spc="-1" dirty="0">
                    <a:solidFill>
                      <a:schemeClr val="accent2">
                        <a:lumOff val="21760"/>
                      </a:schemeClr>
                    </a:solidFill>
                    <a:latin typeface="Arial"/>
                  </a:rPr>
                  <a:t>so using these formulas we get the results above.</a:t>
                </a:r>
              </a:p>
            </p:txBody>
          </p:sp>
        </mc:Choice>
        <mc:Fallback>
          <p:sp>
            <p:nvSpPr>
              <p:cNvPr id="134" name="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311760" y="1046598"/>
                <a:ext cx="3999600" cy="3416040"/>
              </a:xfrm>
              <a:prstGeom prst="rect">
                <a:avLst/>
              </a:prstGeom>
              <a:blipFill>
                <a:blip r:embed="rId3"/>
                <a:stretch>
                  <a:fillRect l="-316" b="-8889"/>
                </a:stretch>
              </a:blipFill>
              <a:ln w="126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PlaceHolder 3"/>
              <p:cNvSpPr>
                <a:spLocks noGrp="1"/>
              </p:cNvSpPr>
              <p:nvPr>
                <p:ph/>
              </p:nvPr>
            </p:nvSpPr>
            <p:spPr>
              <a:xfrm>
                <a:off x="4832280" y="1046598"/>
                <a:ext cx="3999600" cy="3521802"/>
              </a:xfrm>
              <a:prstGeom prst="rect">
                <a:avLst/>
              </a:prstGeom>
              <a:noFill/>
              <a:ln w="12600">
                <a:noFill/>
              </a:ln>
            </p:spPr>
            <p:txBody>
              <a:bodyPr lIns="91440" tIns="91440" rIns="91440" bIns="91440" anchor="t">
                <a:noAutofit/>
              </a:bodyPr>
              <a:lstStyle/>
              <a:p>
                <a:pPr>
                  <a:lnSpc>
                    <a:spcPct val="115000"/>
                  </a:lnSpc>
                  <a:tabLst>
                    <a:tab pos="0" algn="l"/>
                  </a:tabLst>
                </a:pPr>
                <a:r>
                  <a:rPr lang="en-US" sz="1400" spc="-1" dirty="0">
                    <a:solidFill>
                      <a:schemeClr val="accent2">
                        <a:lumOff val="21760"/>
                      </a:schemeClr>
                    </a:solidFill>
                  </a:rPr>
                  <a:t>[What are the input &amp; output dimensions of the convolutions of the dog image and a 3x3 filter  with the following parameters: </a:t>
                </a:r>
              </a:p>
              <a:p>
                <a:pPr indent="0" defTabSz="914400">
                  <a:lnSpc>
                    <a:spcPct val="115000"/>
                  </a:lnSpc>
                  <a:buNone/>
                  <a:tabLst>
                    <a:tab pos="0" algn="l"/>
                  </a:tabLst>
                </a:pPr>
                <a:endParaRPr lang="en-US" sz="1400" spc="-1" dirty="0">
                  <a:solidFill>
                    <a:schemeClr val="accent2">
                      <a:lumOff val="21760"/>
                    </a:schemeClr>
                  </a:solidFill>
                  <a:latin typeface="Arial"/>
                  <a:ea typeface="Arial"/>
                </a:endParaRPr>
              </a:p>
              <a:p>
                <a:pPr indent="0" defTabSz="914400">
                  <a:lnSpc>
                    <a:spcPct val="115000"/>
                  </a:lnSpc>
                  <a:buNone/>
                  <a:tabLst>
                    <a:tab pos="0" algn="l"/>
                  </a:tabLst>
                </a:pPr>
                <a:endParaRPr lang="en-US" sz="1400" spc="-1" dirty="0">
                  <a:solidFill>
                    <a:schemeClr val="accent2">
                      <a:lumOff val="21760"/>
                    </a:schemeClr>
                  </a:solidFill>
                  <a:latin typeface="Arial"/>
                  <a:ea typeface="Arial"/>
                </a:endParaRPr>
              </a:p>
              <a:p>
                <a:pPr indent="0" defTabSz="914400">
                  <a:lnSpc>
                    <a:spcPct val="115000"/>
                  </a:lnSpc>
                  <a:buNone/>
                  <a:tabLst>
                    <a:tab pos="0" algn="l"/>
                  </a:tabLst>
                </a:pPr>
                <a:endParaRPr lang="en-US" sz="1400" spc="-1" dirty="0">
                  <a:solidFill>
                    <a:schemeClr val="accent2">
                      <a:lumOff val="21760"/>
                    </a:schemeClr>
                  </a:solidFill>
                  <a:latin typeface="Arial"/>
                  <a:ea typeface="Arial"/>
                </a:endParaRPr>
              </a:p>
              <a:p>
                <a:pPr indent="0" defTabSz="914400">
                  <a:lnSpc>
                    <a:spcPct val="115000"/>
                  </a:lnSpc>
                  <a:buNone/>
                  <a:tabLst>
                    <a:tab pos="0" algn="l"/>
                  </a:tabLst>
                </a:pPr>
                <a:endParaRPr lang="en-US" sz="1400" spc="-1" dirty="0">
                  <a:solidFill>
                    <a:schemeClr val="accent2">
                      <a:lumOff val="21760"/>
                    </a:schemeClr>
                  </a:solidFill>
                  <a:latin typeface="Arial"/>
                  <a:ea typeface="Arial"/>
                </a:endParaRPr>
              </a:p>
              <a:p>
                <a:pPr indent="0" defTabSz="914400">
                  <a:lnSpc>
                    <a:spcPct val="115000"/>
                  </a:lnSpc>
                  <a:buNone/>
                  <a:tabLst>
                    <a:tab pos="0" algn="l"/>
                  </a:tabLst>
                </a:pPr>
                <a:endParaRPr lang="en-US" sz="1400" spc="-1" dirty="0">
                  <a:solidFill>
                    <a:schemeClr val="accent2">
                      <a:lumOff val="21760"/>
                    </a:schemeClr>
                  </a:solidFill>
                  <a:latin typeface="Arial"/>
                  <a:ea typeface="Arial"/>
                </a:endParaRPr>
              </a:p>
              <a:p>
                <a:pPr indent="0" defTabSz="914400">
                  <a:lnSpc>
                    <a:spcPct val="115000"/>
                  </a:lnSpc>
                  <a:buNone/>
                  <a:tabLst>
                    <a:tab pos="0" algn="l"/>
                  </a:tabLst>
                </a:pPr>
                <a:endParaRPr lang="en-US" sz="1400" spc="-1" dirty="0">
                  <a:solidFill>
                    <a:schemeClr val="accent2">
                      <a:lumOff val="21760"/>
                    </a:schemeClr>
                  </a:solidFill>
                  <a:latin typeface="Arial"/>
                  <a:ea typeface="Arial"/>
                </a:endParaRPr>
              </a:p>
              <a:p>
                <a:pPr indent="0" defTabSz="914400">
                  <a:lnSpc>
                    <a:spcPct val="115000"/>
                  </a:lnSpc>
                  <a:buNone/>
                  <a:tabLst>
                    <a:tab pos="0" algn="l"/>
                  </a:tabLst>
                </a:pPr>
                <a:endParaRPr lang="en-US" sz="1400" spc="-1" dirty="0">
                  <a:solidFill>
                    <a:schemeClr val="accent2">
                      <a:lumOff val="21760"/>
                    </a:schemeClr>
                  </a:solidFill>
                  <a:latin typeface="Arial"/>
                  <a:ea typeface="Arial"/>
                </a:endParaRPr>
              </a:p>
              <a:p>
                <a:pPr indent="0" defTabSz="914400">
                  <a:lnSpc>
                    <a:spcPct val="115000"/>
                  </a:lnSpc>
                  <a:buNone/>
                  <a:tabLst>
                    <a:tab pos="0" algn="l"/>
                  </a:tabLst>
                </a:pPr>
                <a:r>
                  <a:rPr lang="en-US" sz="1400" spc="-1" dirty="0">
                    <a:solidFill>
                      <a:schemeClr val="accent2">
                        <a:lumOff val="21760"/>
                      </a:schemeClr>
                    </a:solidFill>
                    <a:latin typeface="Arial"/>
                    <a:ea typeface="Arial"/>
                  </a:rPr>
                  <a:t>There is only one filter applied to the dog image so </a:t>
                </a:r>
                <a14:m>
                  <m:oMath xmlns:m="http://schemas.openxmlformats.org/officeDocument/2006/math">
                    <m:r>
                      <a:rPr lang="en-US" sz="1400" b="0" i="1" spc="-1" smtClean="0">
                        <a:solidFill>
                          <a:schemeClr val="accent2">
                            <a:lumOff val="21760"/>
                          </a:schemeClr>
                        </a:solidFill>
                        <a:latin typeface="Cambria Math" panose="02040503050406030204" pitchFamily="18" charset="0"/>
                        <a:ea typeface="Arial"/>
                      </a:rPr>
                      <m:t>𝑁</m:t>
                    </m:r>
                    <m:r>
                      <a:rPr lang="en-US" sz="1400" b="0" i="1" spc="-1" smtClean="0">
                        <a:solidFill>
                          <a:schemeClr val="accent2">
                            <a:lumOff val="21760"/>
                          </a:schemeClr>
                        </a:solidFill>
                        <a:latin typeface="Cambria Math" panose="02040503050406030204" pitchFamily="18" charset="0"/>
                        <a:ea typeface="Arial"/>
                      </a:rPr>
                      <m:t>=3</m:t>
                    </m:r>
                  </m:oMath>
                </a14:m>
                <a:r>
                  <a:rPr lang="en-US" sz="1400" b="0" spc="-1" dirty="0">
                    <a:solidFill>
                      <a:schemeClr val="accent2">
                        <a:lumOff val="21760"/>
                      </a:schemeClr>
                    </a:solidFill>
                    <a:latin typeface="Arial"/>
                    <a:ea typeface="Arial"/>
                  </a:rPr>
                  <a:t> (since batch size = # of filters * # of channels). The dog image has shape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  <a:ea typeface="Arial"/>
                          </a:rPr>
                        </m:ctrlPr>
                      </m:sSubPr>
                      <m:e>
                        <m:r>
                          <a:rPr lang="en-US" sz="1400" b="0" i="1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  <a:ea typeface="Arial"/>
                          </a:rPr>
                          <m:t>𝑑</m:t>
                        </m:r>
                      </m:e>
                      <m:sub>
                        <m:r>
                          <a:rPr lang="en-US" sz="1400" b="0" i="1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  <a:ea typeface="Arial"/>
                          </a:rPr>
                          <m:t>1</m:t>
                        </m:r>
                      </m:sub>
                    </m:sSub>
                    <m:r>
                      <a:rPr lang="en-US" sz="1400" b="0" i="1" spc="-1" smtClean="0">
                        <a:solidFill>
                          <a:schemeClr val="accent2">
                            <a:lumOff val="21760"/>
                          </a:schemeClr>
                        </a:solidFill>
                        <a:latin typeface="Cambria Math" panose="02040503050406030204" pitchFamily="18" charset="0"/>
                        <a:ea typeface="Arial"/>
                      </a:rPr>
                      <m:t>=3,  </m:t>
                    </m:r>
                    <m:sSub>
                      <m:sSubPr>
                        <m:ctrlPr>
                          <a:rPr lang="en-US" sz="1400" b="0" i="1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  <a:ea typeface="Arial"/>
                          </a:rPr>
                        </m:ctrlPr>
                      </m:sSubPr>
                      <m:e>
                        <m:r>
                          <a:rPr lang="en-US" sz="1400" b="0" i="1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  <a:ea typeface="Arial"/>
                          </a:rPr>
                          <m:t>h</m:t>
                        </m:r>
                      </m:e>
                      <m:sub>
                        <m:r>
                          <a:rPr lang="en-US" sz="1400" b="0" i="1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  <a:ea typeface="Arial"/>
                          </a:rPr>
                          <m:t>1</m:t>
                        </m:r>
                      </m:sub>
                    </m:sSub>
                    <m:r>
                      <a:rPr lang="en-US" sz="1400" b="0" i="1" spc="-1" smtClean="0">
                        <a:solidFill>
                          <a:schemeClr val="accent2">
                            <a:lumOff val="21760"/>
                          </a:schemeClr>
                        </a:solidFill>
                        <a:latin typeface="Cambria Math" panose="02040503050406030204" pitchFamily="18" charset="0"/>
                        <a:ea typeface="Arial"/>
                      </a:rPr>
                      <m:t>=361,  </m:t>
                    </m:r>
                    <m:sSub>
                      <m:sSubPr>
                        <m:ctrlPr>
                          <a:rPr lang="en-US" sz="1400" b="0" i="1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  <a:ea typeface="Arial"/>
                          </a:rPr>
                        </m:ctrlPr>
                      </m:sSubPr>
                      <m:e>
                        <m:r>
                          <a:rPr lang="en-US" sz="1400" b="0" i="1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  <a:ea typeface="Arial"/>
                          </a:rPr>
                          <m:t>𝑤</m:t>
                        </m:r>
                      </m:e>
                      <m:sub>
                        <m:r>
                          <a:rPr lang="en-US" sz="1400" b="0" i="1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  <a:ea typeface="Arial"/>
                          </a:rPr>
                          <m:t>1</m:t>
                        </m:r>
                      </m:sub>
                    </m:sSub>
                    <m:r>
                      <a:rPr lang="en-US" sz="1400" b="0" i="1" spc="-1" smtClean="0">
                        <a:solidFill>
                          <a:schemeClr val="accent2">
                            <a:lumOff val="21760"/>
                          </a:schemeClr>
                        </a:solidFill>
                        <a:latin typeface="Cambria Math" panose="02040503050406030204" pitchFamily="18" charset="0"/>
                        <a:ea typeface="Arial"/>
                      </a:rPr>
                      <m:t>=410</m:t>
                    </m:r>
                  </m:oMath>
                </a14:m>
                <a:r>
                  <a:rPr lang="en-US" sz="1400" b="0" spc="-1" dirty="0">
                    <a:solidFill>
                      <a:schemeClr val="accent2">
                        <a:lumOff val="21760"/>
                      </a:schemeClr>
                    </a:solidFill>
                    <a:latin typeface="Arial"/>
                    <a:ea typeface="Arial"/>
                  </a:rPr>
                  <a:t>) and </a:t>
                </a:r>
                <a:r>
                  <a:rPr lang="en-US" sz="1400" spc="-1" dirty="0">
                    <a:solidFill>
                      <a:schemeClr val="accent2">
                        <a:lumOff val="21760"/>
                      </a:schemeClr>
                    </a:solidFill>
                  </a:rPr>
                  <a:t>since the filter is 3x3, </a:t>
                </a:r>
                <a14:m>
                  <m:oMath xmlns:m="http://schemas.openxmlformats.org/officeDocument/2006/math">
                    <m:r>
                      <a:rPr lang="en-US" sz="1400" i="1" spc="-1">
                        <a:solidFill>
                          <a:schemeClr val="accent2">
                            <a:lumOff val="2176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400" i="1" spc="-1">
                        <a:solidFill>
                          <a:schemeClr val="accent2">
                            <a:lumOff val="21760"/>
                          </a:schemeClr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1400" spc="-1" dirty="0">
                    <a:solidFill>
                      <a:schemeClr val="accent2">
                        <a:lumOff val="21760"/>
                      </a:schemeClr>
                    </a:solidFill>
                  </a:rPr>
                  <a:t>. Using the formulas provided we get the above results.</a:t>
                </a:r>
                <a:endParaRPr lang="en-US" sz="1400" b="0" spc="-1" dirty="0">
                  <a:solidFill>
                    <a:schemeClr val="accent2">
                      <a:lumOff val="21760"/>
                    </a:schemeClr>
                  </a:solidFill>
                  <a:latin typeface="Arial"/>
                  <a:ea typeface="Arial"/>
                </a:endParaRPr>
              </a:p>
              <a:p>
                <a:pPr indent="0" defTabSz="914400">
                  <a:lnSpc>
                    <a:spcPct val="115000"/>
                  </a:lnSpc>
                  <a:buNone/>
                  <a:tabLst>
                    <a:tab pos="0" algn="l"/>
                  </a:tabLst>
                </a:pPr>
                <a:endParaRPr lang="en-US" sz="1400" b="0" strike="noStrike" spc="-1" dirty="0">
                  <a:solidFill>
                    <a:schemeClr val="accent2">
                      <a:lumOff val="21760"/>
                    </a:schemeClr>
                  </a:solidFill>
                  <a:latin typeface="Arial"/>
                  <a:ea typeface="Arial"/>
                </a:endParaRPr>
              </a:p>
            </p:txBody>
          </p:sp>
        </mc:Choice>
        <mc:Fallback>
          <p:sp>
            <p:nvSpPr>
              <p:cNvPr id="135" name="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832280" y="1046598"/>
                <a:ext cx="3999600" cy="3521802"/>
              </a:xfrm>
              <a:prstGeom prst="rect">
                <a:avLst/>
              </a:prstGeom>
              <a:blipFill>
                <a:blip r:embed="rId4"/>
                <a:stretch>
                  <a:fillRect l="-633" b="-16547"/>
                </a:stretch>
              </a:blipFill>
              <a:ln w="126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7FB1B82-9BA3-BA70-826F-AC0D8C4EB4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320748"/>
              </p:ext>
            </p:extLst>
          </p:nvPr>
        </p:nvGraphicFramePr>
        <p:xfrm>
          <a:off x="311760" y="1992618"/>
          <a:ext cx="39996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962">
                  <a:extLst>
                    <a:ext uri="{9D8B030D-6E8A-4147-A177-3AD203B41FA5}">
                      <a16:colId xmlns:a16="http://schemas.microsoft.com/office/drawing/2014/main" val="1449210698"/>
                    </a:ext>
                  </a:extLst>
                </a:gridCol>
                <a:gridCol w="1262269">
                  <a:extLst>
                    <a:ext uri="{9D8B030D-6E8A-4147-A177-3AD203B41FA5}">
                      <a16:colId xmlns:a16="http://schemas.microsoft.com/office/drawing/2014/main" val="4096120502"/>
                    </a:ext>
                  </a:extLst>
                </a:gridCol>
                <a:gridCol w="1697369">
                  <a:extLst>
                    <a:ext uri="{9D8B030D-6E8A-4147-A177-3AD203B41FA5}">
                      <a16:colId xmlns:a16="http://schemas.microsoft.com/office/drawing/2014/main" val="35061428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Stride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Padding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Output Shape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9452633"/>
                  </a:ext>
                </a:extLst>
              </a:tr>
              <a:tr h="28989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s =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p =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(1, 3, 3)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125560"/>
                  </a:ext>
                </a:extLst>
              </a:tr>
              <a:tr h="28989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s =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p =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(1, 2, 2)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285180"/>
                  </a:ext>
                </a:extLst>
              </a:tr>
              <a:tr h="28989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s =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p =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(1, 5, 5)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4839613"/>
                  </a:ext>
                </a:extLst>
              </a:tr>
              <a:tr h="28989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s =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p = 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(1, 3, 3)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99466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F87CE8E-E162-C320-BB1E-B8D8635CC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717356"/>
              </p:ext>
            </p:extLst>
          </p:nvPr>
        </p:nvGraphicFramePr>
        <p:xfrm>
          <a:off x="4818334" y="1992618"/>
          <a:ext cx="39996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962">
                  <a:extLst>
                    <a:ext uri="{9D8B030D-6E8A-4147-A177-3AD203B41FA5}">
                      <a16:colId xmlns:a16="http://schemas.microsoft.com/office/drawing/2014/main" val="1449210698"/>
                    </a:ext>
                  </a:extLst>
                </a:gridCol>
                <a:gridCol w="1262269">
                  <a:extLst>
                    <a:ext uri="{9D8B030D-6E8A-4147-A177-3AD203B41FA5}">
                      <a16:colId xmlns:a16="http://schemas.microsoft.com/office/drawing/2014/main" val="4096120502"/>
                    </a:ext>
                  </a:extLst>
                </a:gridCol>
                <a:gridCol w="1697369">
                  <a:extLst>
                    <a:ext uri="{9D8B030D-6E8A-4147-A177-3AD203B41FA5}">
                      <a16:colId xmlns:a16="http://schemas.microsoft.com/office/drawing/2014/main" val="35061428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Stride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Padding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Output Shape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9452633"/>
                  </a:ext>
                </a:extLst>
              </a:tr>
              <a:tr h="28989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s =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p =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(1, 359, 408)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125560"/>
                  </a:ext>
                </a:extLst>
              </a:tr>
              <a:tr h="28989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s =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p =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(1, 180, 204)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285180"/>
                  </a:ext>
                </a:extLst>
              </a:tr>
              <a:tr h="28989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s =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p =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(1, 361, 410)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4839613"/>
                  </a:ext>
                </a:extLst>
              </a:tr>
              <a:tr h="28989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s =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p = 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(1, 181, 205)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99466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defTabSz="8776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9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Part 3: Understanding input/output shapes in </a:t>
            </a:r>
            <a:r>
              <a:rPr lang="en-US" sz="2690" b="0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PyTorch</a:t>
            </a:r>
            <a:endParaRPr lang="en-US" sz="2690" b="0" strike="noStrike" spc="-1" dirty="0">
              <a:solidFill>
                <a:srgbClr val="000000"/>
              </a:solidFill>
              <a:latin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7" name="PlaceHolder 2"/>
              <p:cNvSpPr>
                <a:spLocks noGrp="1"/>
              </p:cNvSpPr>
              <p:nvPr>
                <p:ph/>
              </p:nvPr>
            </p:nvSpPr>
            <p:spPr>
              <a:xfrm>
                <a:off x="2633870" y="1017360"/>
                <a:ext cx="6510131" cy="4453310"/>
              </a:xfrm>
              <a:prstGeom prst="rect">
                <a:avLst/>
              </a:prstGeom>
              <a:noFill/>
              <a:ln w="12600">
                <a:noFill/>
              </a:ln>
            </p:spPr>
            <p:txBody>
              <a:bodyPr lIns="91440" tIns="91440" rIns="91440" bIns="91440" anchor="t">
                <a:noAutofit/>
              </a:bodyPr>
              <a:lstStyle/>
              <a:p>
                <a:pPr indent="0" defTabSz="914400">
                  <a:lnSpc>
                    <a:spcPct val="115000"/>
                  </a:lnSpc>
                  <a:buNone/>
                  <a:tabLst>
                    <a:tab pos="0" algn="l"/>
                  </a:tabLst>
                </a:pPr>
                <a:r>
                  <a:rPr lang="en-US" sz="1400" b="0" strike="noStrike" spc="-1" dirty="0">
                    <a:solidFill>
                      <a:schemeClr val="accent2">
                        <a:lumOff val="21760"/>
                      </a:schemeClr>
                    </a:solidFill>
                    <a:latin typeface="Arial"/>
                    <a:ea typeface="Arial"/>
                  </a:rPr>
                  <a:t>[Section 3 of the handout gives equations to calculate output dimensions given filter size, stride, and padding. What is the intuition behind this equation?]</a:t>
                </a:r>
                <a:endParaRPr lang="en-US" sz="1400" b="0" strike="noStrike" spc="-1" dirty="0">
                  <a:solidFill>
                    <a:schemeClr val="accent2">
                      <a:lumOff val="21760"/>
                    </a:schemeClr>
                  </a:solidFill>
                  <a:latin typeface="Arial"/>
                </a:endParaRPr>
              </a:p>
              <a:p>
                <a:pPr indent="0" defTabSz="914400">
                  <a:lnSpc>
                    <a:spcPct val="115000"/>
                  </a:lnSpc>
                  <a:buNone/>
                  <a:tabLst>
                    <a:tab pos="0" algn="l"/>
                  </a:tabLst>
                </a:pPr>
                <a:endParaRPr lang="en-US" sz="1400" b="0" strike="noStrike" spc="-1" dirty="0">
                  <a:solidFill>
                    <a:schemeClr val="accent2">
                      <a:lumOff val="21760"/>
                    </a:schemeClr>
                  </a:solidFill>
                  <a:latin typeface="Arial"/>
                </a:endParaRPr>
              </a:p>
              <a:p>
                <a:pPr indent="0" defTabSz="914400">
                  <a:lnSpc>
                    <a:spcPct val="115000"/>
                  </a:lnSpc>
                  <a:buNone/>
                  <a:tabLst>
                    <a:tab pos="0" algn="l"/>
                  </a:tabLst>
                </a:pPr>
                <a:r>
                  <a:rPr lang="en-US" sz="1400" b="0" strike="noStrike" spc="-1" dirty="0">
                    <a:solidFill>
                      <a:schemeClr val="accent2">
                        <a:lumOff val="21760"/>
                      </a:schemeClr>
                    </a:solidFill>
                    <a:latin typeface="Arial"/>
                  </a:rPr>
                  <a:t>The intuition is the same across each dimension, so we shall only pick one to demonstrate (</a:t>
                </a:r>
                <a14:m>
                  <m:oMath xmlns:m="http://schemas.openxmlformats.org/officeDocument/2006/math">
                    <m:r>
                      <a:rPr lang="en-US" sz="1400" b="0" i="1" strike="noStrike" spc="-1" smtClean="0">
                        <a:solidFill>
                          <a:schemeClr val="accent2">
                            <a:lumOff val="21760"/>
                          </a:schemeClr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1400" b="0" strike="noStrike" spc="-1" dirty="0">
                    <a:solidFill>
                      <a:schemeClr val="accent2">
                        <a:lumOff val="21760"/>
                      </a:schemeClr>
                    </a:solidFill>
                    <a:latin typeface="Arial"/>
                  </a:rPr>
                  <a:t>):  </a:t>
                </a:r>
                <a:r>
                  <a:rPr lang="en-US" sz="1400" spc="-1" dirty="0">
                    <a:solidFill>
                      <a:schemeClr val="accent2">
                        <a:lumOff val="21760"/>
                      </a:schemeClr>
                    </a:solidFill>
                    <a:latin typeface="Arial"/>
                  </a:rPr>
                  <a:t>Assuming </a:t>
                </a:r>
                <a14:m>
                  <m:oMath xmlns:m="http://schemas.openxmlformats.org/officeDocument/2006/math">
                    <m:r>
                      <a:rPr lang="en-US" sz="1400" b="0" i="1" spc="-1" smtClean="0">
                        <a:solidFill>
                          <a:schemeClr val="accent2">
                            <a:lumOff val="2176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400" b="0" i="1" spc="-1" smtClean="0">
                        <a:solidFill>
                          <a:schemeClr val="accent2">
                            <a:lumOff val="21760"/>
                          </a:schemeClr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400" spc="-1" dirty="0">
                    <a:solidFill>
                      <a:schemeClr val="accent2">
                        <a:lumOff val="21760"/>
                      </a:schemeClr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400" b="0" i="1" spc="-1" smtClean="0">
                        <a:solidFill>
                          <a:schemeClr val="accent2">
                            <a:lumOff val="2176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400" b="0" i="1" spc="-1" smtClean="0">
                        <a:solidFill>
                          <a:schemeClr val="accent2">
                            <a:lumOff val="2176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400" spc="-1" dirty="0">
                    <a:solidFill>
                      <a:schemeClr val="accent2">
                        <a:lumOff val="21760"/>
                      </a:schemeClr>
                    </a:solidFill>
                    <a:latin typeface="Arial"/>
                  </a:rPr>
                  <a:t>, we can slide our filter at most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pc="-1" dirty="0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1400" b="0" i="1" spc="-1" dirty="0" smtClean="0">
                                <a:solidFill>
                                  <a:schemeClr val="accent2">
                                    <a:lumOff val="2176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pc="-1" dirty="0" smtClean="0">
                                <a:solidFill>
                                  <a:schemeClr val="accent2">
                                    <a:lumOff val="2176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400" b="0" i="1" spc="-1" dirty="0" smtClean="0">
                                <a:solidFill>
                                  <a:schemeClr val="accent2">
                                    <a:lumOff val="2176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400" b="0" i="1" spc="-1" dirty="0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sz="1400" i="1" spc="-1" dirty="0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400" b="0" i="1" spc="-1" dirty="0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400" i="1" spc="-1" dirty="0" smtClean="0">
                        <a:solidFill>
                          <a:schemeClr val="accent2">
                            <a:lumOff val="21760"/>
                          </a:schemeClr>
                        </a:solidFill>
                        <a:latin typeface="Cambria Math" panose="02040503050406030204" pitchFamily="18" charset="0"/>
                      </a:rPr>
                      <m:t> – 1</m:t>
                    </m:r>
                    <m:r>
                      <a:rPr lang="en-US" sz="1400" b="0" i="1" spc="-1" dirty="0" smtClean="0">
                        <a:solidFill>
                          <a:schemeClr val="accent2">
                            <a:lumOff val="21760"/>
                          </a:schemeClr>
                        </a:solidFill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sz="1400" b="0" i="1" spc="-1" dirty="0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pc="-1" dirty="0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400" b="0" i="1" spc="-1" dirty="0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spc="-1" dirty="0" smtClean="0">
                        <a:solidFill>
                          <a:schemeClr val="accent2">
                            <a:lumOff val="2176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00" b="0" i="1" spc="-1" dirty="0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pc="-1" dirty="0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400" b="0" i="1" spc="-1" dirty="0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400" b="0" i="1" spc="-1" dirty="0" smtClean="0">
                        <a:solidFill>
                          <a:schemeClr val="accent2">
                            <a:lumOff val="21760"/>
                          </a:schemeClr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1400" spc="-1" dirty="0">
                    <a:solidFill>
                      <a:schemeClr val="accent2">
                        <a:lumOff val="21760"/>
                      </a:schemeClr>
                    </a:solidFill>
                    <a:latin typeface="Arial"/>
                  </a:rPr>
                  <a:t> times across the image so that would be the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400" b="0" i="1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spc="-1" dirty="0">
                    <a:solidFill>
                      <a:schemeClr val="accent2">
                        <a:lumOff val="21760"/>
                      </a:schemeClr>
                    </a:solidFill>
                    <a:latin typeface="Arial"/>
                  </a:rPr>
                  <a:t>. </a:t>
                </a:r>
              </a:p>
              <a:p>
                <a:pPr indent="0" defTabSz="914400">
                  <a:lnSpc>
                    <a:spcPct val="115000"/>
                  </a:lnSpc>
                  <a:buNone/>
                  <a:tabLst>
                    <a:tab pos="0" algn="l"/>
                  </a:tabLst>
                </a:pPr>
                <a:endParaRPr lang="en-US" sz="1400" spc="-1" dirty="0">
                  <a:solidFill>
                    <a:schemeClr val="accent2">
                      <a:lumOff val="21760"/>
                    </a:schemeClr>
                  </a:solidFill>
                  <a:latin typeface="Arial"/>
                </a:endParaRPr>
              </a:p>
              <a:p>
                <a:pPr>
                  <a:lnSpc>
                    <a:spcPct val="115000"/>
                  </a:lnSpc>
                  <a:tabLst>
                    <a:tab pos="0" algn="l"/>
                  </a:tabLst>
                </a:pPr>
                <a:r>
                  <a:rPr lang="en-US" sz="1400" spc="-1" dirty="0">
                    <a:solidFill>
                      <a:schemeClr val="accent2">
                        <a:lumOff val="21760"/>
                      </a:schemeClr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1400" b="0" i="1" spc="-1" smtClean="0">
                        <a:solidFill>
                          <a:schemeClr val="accent2">
                            <a:lumOff val="2176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400" b="0" i="1" spc="-1" smtClean="0">
                        <a:solidFill>
                          <a:schemeClr val="accent2">
                            <a:lumOff val="21760"/>
                          </a:schemeClr>
                        </a:solidFill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sz="1400" spc="-1" dirty="0">
                    <a:solidFill>
                      <a:schemeClr val="accent2">
                        <a:lumOff val="21760"/>
                      </a:schemeClr>
                    </a:solidFill>
                    <a:latin typeface="Arial"/>
                  </a:rPr>
                  <a:t>, then we add </a:t>
                </a:r>
                <a14:m>
                  <m:oMath xmlns:m="http://schemas.openxmlformats.org/officeDocument/2006/math">
                    <m:r>
                      <a:rPr lang="en-US" sz="1400" b="0" i="1" spc="-1" smtClean="0">
                        <a:solidFill>
                          <a:schemeClr val="accent2">
                            <a:lumOff val="2176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400" spc="-1" dirty="0">
                    <a:solidFill>
                      <a:schemeClr val="accent2">
                        <a:lumOff val="21760"/>
                      </a:schemeClr>
                    </a:solidFill>
                    <a:latin typeface="Arial"/>
                  </a:rPr>
                  <a:t> pixels to both side, resulting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pc="-1" dirty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1400" i="1" spc="-1" dirty="0">
                                <a:solidFill>
                                  <a:schemeClr val="accent2">
                                    <a:lumOff val="2176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400" b="0" i="1" spc="-1" dirty="0" smtClean="0">
                                    <a:solidFill>
                                      <a:schemeClr val="accent2">
                                        <a:lumOff val="2176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pc="-1" dirty="0" smtClean="0">
                                    <a:solidFill>
                                      <a:schemeClr val="accent2">
                                        <a:lumOff val="2176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1400" b="0" i="1" spc="-1" dirty="0" smtClean="0">
                                    <a:solidFill>
                                      <a:schemeClr val="accent2">
                                        <a:lumOff val="2176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400" b="0" i="1" spc="-1" dirty="0" smtClean="0">
                                <a:solidFill>
                                  <a:schemeClr val="accent2">
                                    <a:lumOff val="2176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= </m:t>
                            </m:r>
                            <m:r>
                              <a:rPr lang="en-US" sz="1400" i="1" spc="-1" dirty="0">
                                <a:solidFill>
                                  <a:schemeClr val="accent2">
                                    <a:lumOff val="2176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400" i="1" spc="-1" dirty="0">
                                <a:solidFill>
                                  <a:schemeClr val="accent2">
                                    <a:lumOff val="2176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400" b="0" i="1" spc="-1" dirty="0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sz="1400" b="0" i="1" spc="-1" dirty="0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400" b="0" i="1" spc="-1" dirty="0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−(</m:t>
                        </m:r>
                        <m:r>
                          <a:rPr lang="en-US" sz="1400" i="1" spc="-1" dirty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400" i="1" spc="-1" dirty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400" i="1" spc="-1" dirty="0">
                        <a:solidFill>
                          <a:schemeClr val="accent2">
                            <a:lumOff val="21760"/>
                          </a:schemeClr>
                        </a:solidFill>
                        <a:latin typeface="Cambria Math" panose="02040503050406030204" pitchFamily="18" charset="0"/>
                      </a:rPr>
                      <m:t> – 1)</m:t>
                    </m:r>
                    <m:r>
                      <a:rPr lang="en-US" sz="1400" b="0" i="1" spc="-1" dirty="0" smtClean="0">
                        <a:solidFill>
                          <a:schemeClr val="accent2">
                            <a:lumOff val="21760"/>
                          </a:schemeClr>
                        </a:solidFill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sz="1400" b="0" strike="noStrike" spc="-1" dirty="0">
                  <a:solidFill>
                    <a:schemeClr val="accent2">
                      <a:lumOff val="21760"/>
                    </a:schemeClr>
                  </a:solidFill>
                  <a:latin typeface="Arial"/>
                </a:endParaRPr>
              </a:p>
              <a:p>
                <a:pPr>
                  <a:lnSpc>
                    <a:spcPct val="115000"/>
                  </a:lnSpc>
                  <a:tabLst>
                    <a:tab pos="0" algn="l"/>
                  </a:tabLst>
                </a:pPr>
                <a:endParaRPr lang="en-US" sz="1400" b="0" strike="noStrike" spc="-1" dirty="0">
                  <a:solidFill>
                    <a:schemeClr val="accent2">
                      <a:lumOff val="21760"/>
                    </a:schemeClr>
                  </a:solidFill>
                  <a:latin typeface="Arial"/>
                </a:endParaRPr>
              </a:p>
              <a:p>
                <a:pPr indent="0" defTabSz="914400">
                  <a:lnSpc>
                    <a:spcPct val="115000"/>
                  </a:lnSpc>
                  <a:buNone/>
                  <a:tabLst>
                    <a:tab pos="0" algn="l"/>
                  </a:tabLst>
                </a:pPr>
                <a:r>
                  <a:rPr lang="en-US" sz="1400" b="0" strike="noStrike" spc="-1" dirty="0">
                    <a:solidFill>
                      <a:schemeClr val="accent2">
                        <a:lumOff val="21760"/>
                      </a:schemeClr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1400" b="0" i="1" strike="noStrike" spc="-1" smtClean="0">
                        <a:solidFill>
                          <a:schemeClr val="accent2">
                            <a:lumOff val="2176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400" b="0" i="1" strike="noStrike" spc="-1" smtClean="0">
                        <a:solidFill>
                          <a:schemeClr val="accent2">
                            <a:lumOff val="21760"/>
                          </a:schemeClr>
                        </a:solidFill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sz="1400" b="0" strike="noStrike" spc="-1" dirty="0">
                    <a:solidFill>
                      <a:schemeClr val="accent2">
                        <a:lumOff val="21760"/>
                      </a:schemeClr>
                    </a:solidFill>
                    <a:latin typeface="Arial"/>
                  </a:rPr>
                  <a:t>, then we need to re-adjust by dividing both the height of our padded image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trike="noStrike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trike="noStrike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400" b="0" i="1" strike="noStrike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strike="noStrike" spc="-1" smtClean="0">
                        <a:solidFill>
                          <a:schemeClr val="accent2">
                            <a:lumOff val="21760"/>
                          </a:schemeClr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1400" b="0" i="1" strike="noStrike" spc="-1" smtClean="0">
                        <a:solidFill>
                          <a:schemeClr val="accent2">
                            <a:lumOff val="2176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400" b="0" strike="noStrike" spc="-1" dirty="0">
                    <a:solidFill>
                      <a:schemeClr val="accent2">
                        <a:lumOff val="21760"/>
                      </a:schemeClr>
                    </a:solidFill>
                    <a:latin typeface="Arial"/>
                  </a:rPr>
                  <a:t>) and the height of our filter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trike="noStrike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trike="noStrike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400" b="0" i="1" strike="noStrike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400" b="0" strike="noStrike" spc="-1" dirty="0">
                    <a:solidFill>
                      <a:schemeClr val="accent2">
                        <a:lumOff val="21760"/>
                      </a:schemeClr>
                    </a:solidFill>
                    <a:latin typeface="Arial"/>
                  </a:rPr>
                  <a:t>) by </a:t>
                </a:r>
                <a14:m>
                  <m:oMath xmlns:m="http://schemas.openxmlformats.org/officeDocument/2006/math">
                    <m:r>
                      <a:rPr lang="en-US" sz="1400" b="0" i="1" strike="noStrike" spc="-1" smtClean="0">
                        <a:solidFill>
                          <a:schemeClr val="accent2">
                            <a:lumOff val="2176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400" b="0" strike="noStrike" spc="-1" dirty="0">
                    <a:solidFill>
                      <a:schemeClr val="accent2">
                        <a:lumOff val="21760"/>
                      </a:schemeClr>
                    </a:solidFill>
                    <a:latin typeface="Arial"/>
                  </a:rPr>
                  <a:t>, resulting in new heights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b="0" i="1" strike="noStrike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b="0" i="1" strike="noStrike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400" b="0" i="1" strike="noStrike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400" b="0" i="1" strike="noStrike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1400" b="0" i="1" strike="noStrike" spc="-1" smtClean="0">
                        <a:solidFill>
                          <a:schemeClr val="accent2">
                            <a:lumOff val="2176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b="0" i="1" strike="noStrike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trike="noStrike" spc="-1" smtClean="0">
                                <a:solidFill>
                                  <a:schemeClr val="accent2">
                                    <a:lumOff val="2176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trike="noStrike" spc="-1" smtClean="0">
                                <a:solidFill>
                                  <a:schemeClr val="accent2">
                                    <a:lumOff val="2176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400" b="0" i="1" strike="noStrike" spc="-1" smtClean="0">
                                <a:solidFill>
                                  <a:schemeClr val="accent2">
                                    <a:lumOff val="2176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400" b="0" i="1" strike="noStrike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sz="1400" b="0" i="1" strike="noStrike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sz="1400" b="0" i="1" strike="noStrike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en-US" sz="1400" b="0" i="1" strike="noStrike" spc="-1" smtClean="0">
                        <a:solidFill>
                          <a:schemeClr val="accent2">
                            <a:lumOff val="2176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sz="1400" b="0" i="1" strike="noStrike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b="0" i="1" strike="noStrike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sz="1400" b="0" i="1" strike="noStrike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400" b="0" i="1" strike="noStrike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sz="1400" b="0" i="1" strike="noStrike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1400" b="0" i="1" strike="noStrike" spc="-1" smtClean="0">
                        <a:solidFill>
                          <a:schemeClr val="accent2">
                            <a:lumOff val="2176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b="0" i="1" strike="noStrike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trike="noStrike" spc="-1" smtClean="0">
                                <a:solidFill>
                                  <a:schemeClr val="accent2">
                                    <a:lumOff val="2176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trike="noStrike" spc="-1" smtClean="0">
                                <a:solidFill>
                                  <a:schemeClr val="accent2">
                                    <a:lumOff val="2176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400" b="0" i="1" strike="noStrike" spc="-1" smtClean="0">
                                <a:solidFill>
                                  <a:schemeClr val="accent2">
                                    <a:lumOff val="2176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n-US" sz="1400" b="0" i="1" strike="noStrike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en-US" sz="1400" b="0" i="1" strike="noStrike" spc="-1" smtClean="0">
                        <a:solidFill>
                          <a:schemeClr val="accent2">
                            <a:lumOff val="2176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b="0" strike="noStrike" spc="-1" dirty="0">
                    <a:solidFill>
                      <a:schemeClr val="accent2">
                        <a:lumOff val="21760"/>
                      </a:schemeClr>
                    </a:solidFill>
                    <a:latin typeface="Arial"/>
                  </a:rPr>
                  <a:t>. Now we can use our formula from before to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trike="noStrike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trike="noStrike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400" b="0" i="1" strike="noStrike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b="0" i="1" strike="noStrike" spc="-1" smtClean="0">
                        <a:solidFill>
                          <a:schemeClr val="accent2">
                            <a:lumOff val="2176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400" b="0" i="1" strike="noStrike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b="0" i="1" strike="noStrike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400" b="0" i="1" strike="noStrike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400" b="0" i="1" strike="noStrike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1400" b="0" i="1" strike="noStrike" spc="-1" smtClean="0">
                        <a:solidFill>
                          <a:schemeClr val="accent2">
                            <a:lumOff val="2176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1400" b="0" i="1" strike="noStrike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b="0" i="1" strike="noStrike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400" b="0" i="1" strike="noStrike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sz="1400" b="0" i="1" strike="noStrike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1400" b="0" i="1" strike="noStrike" spc="-1" smtClean="0">
                        <a:solidFill>
                          <a:schemeClr val="accent2">
                            <a:lumOff val="21760"/>
                          </a:schemeClr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1400" b="0" strike="noStrike" spc="-1" dirty="0">
                    <a:solidFill>
                      <a:schemeClr val="accent2">
                        <a:lumOff val="21760"/>
                      </a:schemeClr>
                    </a:solidFill>
                    <a:latin typeface="Arial"/>
                  </a:rPr>
                  <a:t>. If we plug </a:t>
                </a:r>
                <a:r>
                  <a:rPr lang="en-US" sz="1400" spc="-1" dirty="0">
                    <a:solidFill>
                      <a:schemeClr val="accent2">
                        <a:lumOff val="21760"/>
                      </a:schemeClr>
                    </a:solidFill>
                    <a:latin typeface="Arial"/>
                  </a:rPr>
                  <a:t>in the values for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b="0" i="1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b="0" i="1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400" b="0" i="1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400" b="0" i="1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1400" b="0" strike="noStrike" spc="-1" dirty="0">
                    <a:solidFill>
                      <a:schemeClr val="accent2">
                        <a:lumOff val="21760"/>
                      </a:schemeClr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b="0" i="1" strike="noStrike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b="0" i="1" strike="noStrike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400" b="0" i="1" strike="noStrike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sz="1400" b="0" i="1" strike="noStrike" spc="-1" smtClean="0">
                            <a:solidFill>
                              <a:schemeClr val="accent2">
                                <a:lumOff val="2176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1400" b="0" strike="noStrike" spc="-1" dirty="0">
                    <a:solidFill>
                      <a:schemeClr val="accent2">
                        <a:lumOff val="21760"/>
                      </a:schemeClr>
                    </a:solidFill>
                    <a:latin typeface="Arial"/>
                  </a:rPr>
                  <a:t>, we get the formula from the handout.</a:t>
                </a:r>
              </a:p>
              <a:p>
                <a:pPr indent="0" defTabSz="914400">
                  <a:lnSpc>
                    <a:spcPct val="115000"/>
                  </a:lnSpc>
                  <a:buNone/>
                  <a:tabLst>
                    <a:tab pos="0" algn="l"/>
                  </a:tabLst>
                </a:pPr>
                <a:endParaRPr lang="en-US" sz="1400" b="0" strike="noStrike" spc="-1" dirty="0">
                  <a:solidFill>
                    <a:schemeClr val="accent2">
                      <a:lumOff val="21760"/>
                    </a:schemeClr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137" name="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633870" y="1017360"/>
                <a:ext cx="6510131" cy="4453310"/>
              </a:xfrm>
              <a:prstGeom prst="rect">
                <a:avLst/>
              </a:prstGeom>
              <a:blipFill>
                <a:blip r:embed="rId2"/>
                <a:stretch>
                  <a:fillRect l="-390" r="-780"/>
                </a:stretch>
              </a:blipFill>
              <a:ln w="126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Google Shape;176;p36"/>
          <p:cNvSpPr/>
          <p:nvPr/>
        </p:nvSpPr>
        <p:spPr>
          <a:xfrm>
            <a:off x="182553" y="1017359"/>
            <a:ext cx="2371804" cy="3912449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rm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00" b="0" strike="noStrike" spc="-1" dirty="0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[How many filters did we apply to the dog image?]</a:t>
            </a: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00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Arguably this question be answered in two ways: Technically we applied 12 filters to the dog image, resulting in 4 altered images.</a:t>
            </a: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00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However, one could argue we applied 4 filters to the image since we needed 3 filters each due to the number of input channels.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defTabSz="8776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90" b="0" strike="noStrike" spc="-1">
                <a:solidFill>
                  <a:srgbClr val="000000"/>
                </a:solidFill>
                <a:latin typeface="Arial"/>
                <a:ea typeface="Arial"/>
              </a:rPr>
              <a:t>Part 3: Understanding input/output shapes in PyTorch</a:t>
            </a:r>
            <a:endParaRPr lang="en-US" sz="269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algn="ctr"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400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Identity Filter</a:t>
            </a: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algn="ctr"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400" b="0" strike="noStrike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Blur Filter</a:t>
            </a:r>
          </a:p>
        </p:txBody>
      </p:sp>
      <p:pic>
        <p:nvPicPr>
          <p:cNvPr id="3" name="Picture 2" descr="A close up of a dog&#10;&#10;AI-generated content may be incorrect.">
            <a:extLst>
              <a:ext uri="{FF2B5EF4-FFF2-40B4-BE49-F238E27FC236}">
                <a16:creationId xmlns:a16="http://schemas.microsoft.com/office/drawing/2014/main" id="{24AE84EE-9708-376C-8C32-B475E17B6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810" y="1152360"/>
            <a:ext cx="2603500" cy="2286000"/>
          </a:xfrm>
          <a:prstGeom prst="rect">
            <a:avLst/>
          </a:prstGeom>
        </p:spPr>
      </p:pic>
      <p:pic>
        <p:nvPicPr>
          <p:cNvPr id="5" name="Picture 4" descr="A close-up of a dog&#10;&#10;AI-generated content may be incorrect.">
            <a:extLst>
              <a:ext uri="{FF2B5EF4-FFF2-40B4-BE49-F238E27FC236}">
                <a16:creationId xmlns:a16="http://schemas.microsoft.com/office/drawing/2014/main" id="{AE8D781A-33A8-57D2-F6EF-B1F68854DD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690" y="1152360"/>
            <a:ext cx="26035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defTabSz="8776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90" b="0" strike="noStrike" spc="-1">
                <a:solidFill>
                  <a:srgbClr val="000000"/>
                </a:solidFill>
                <a:latin typeface="Arial"/>
                <a:ea typeface="Arial"/>
              </a:rPr>
              <a:t>Part 3: Understanding input/output shapes in PyTorch</a:t>
            </a:r>
            <a:endParaRPr lang="en-US" sz="269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</a:endParaRPr>
          </a:p>
          <a:p>
            <a:pPr algn="ctr">
              <a:lnSpc>
                <a:spcPct val="115000"/>
              </a:lnSpc>
              <a:tabLst>
                <a:tab pos="0" algn="l"/>
              </a:tabLst>
            </a:pPr>
            <a:r>
              <a:rPr lang="en-US" sz="1400" spc="-1" dirty="0">
                <a:solidFill>
                  <a:schemeClr val="accent2">
                    <a:lumOff val="21760"/>
                  </a:schemeClr>
                </a:solidFill>
              </a:rPr>
              <a:t>Sobel Filter</a:t>
            </a: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algn="ctr"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400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Laplacian Filter</a:t>
            </a: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pic>
        <p:nvPicPr>
          <p:cNvPr id="3" name="Picture 2" descr="A close up of a dog&#10;&#10;AI-generated content may be incorrect.">
            <a:extLst>
              <a:ext uri="{FF2B5EF4-FFF2-40B4-BE49-F238E27FC236}">
                <a16:creationId xmlns:a16="http://schemas.microsoft.com/office/drawing/2014/main" id="{6EFB216F-2CEA-AA22-D009-BD9CE7DB7D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810" y="1152360"/>
            <a:ext cx="2603500" cy="2286000"/>
          </a:xfrm>
          <a:prstGeom prst="rect">
            <a:avLst/>
          </a:prstGeom>
        </p:spPr>
      </p:pic>
      <p:pic>
        <p:nvPicPr>
          <p:cNvPr id="5" name="Picture 4" descr="A close up of a dog&#10;&#10;AI-generated content may be incorrect.">
            <a:extLst>
              <a:ext uri="{FF2B5EF4-FFF2-40B4-BE49-F238E27FC236}">
                <a16:creationId xmlns:a16="http://schemas.microsoft.com/office/drawing/2014/main" id="{3BB15821-BF68-EFE1-5814-B45BE5F126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330" y="1152360"/>
            <a:ext cx="26035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defTabSz="8776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9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Part 4: Frequency Domain Convolutions </a:t>
            </a:r>
            <a:r>
              <a:rPr lang="en-US" sz="2690" spc="-1" dirty="0">
                <a:solidFill>
                  <a:srgbClr val="000000"/>
                </a:solidFill>
                <a:latin typeface="Arial"/>
                <a:ea typeface="Arial"/>
              </a:rPr>
              <a:t>(extra credit)</a:t>
            </a:r>
            <a:endParaRPr lang="en-US" sz="269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400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For the original dog image, you can see that a lot of high frequencies are used, but also the frequencies along the x-/y-axes are stronger because of sharp vertical/horizontal edges.</a:t>
            </a: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400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For the blurred image, we lose a lot of edges and as well as our higher frequencies, which causes the grid-like structure of zero-values for high frequencies. Additionally, since the vertical/horizontal edges have become a lot smoother, we need more high frequencies than before along the x-/y-axes to recreate the now smoothed edges.</a:t>
            </a: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D2BBFA-2484-E886-EE95-F693D6137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60" y="1152360"/>
            <a:ext cx="4233078" cy="18009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609057C-138F-E219-6508-A09FA3DC26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60" y="2953274"/>
            <a:ext cx="4233078" cy="180091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defTabSz="877680">
              <a:lnSpc>
                <a:spcPct val="100000"/>
              </a:lnSpc>
              <a:tabLst>
                <a:tab pos="0" algn="l"/>
              </a:tabLst>
            </a:pPr>
            <a:r>
              <a:rPr lang="en-US" sz="269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Part 4: Frequency Domain Convolutions </a:t>
            </a:r>
            <a:r>
              <a:rPr lang="en-US" sz="2690" spc="-1" dirty="0">
                <a:solidFill>
                  <a:srgbClr val="000000"/>
                </a:solidFill>
              </a:rPr>
              <a:t>(extra credit)</a:t>
            </a:r>
            <a:endParaRPr lang="en-US" sz="269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2394FDD2-9734-B6F0-3104-A0E873AA5209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56490" y="3329857"/>
            <a:ext cx="2255070" cy="1084653"/>
          </a:xfrm>
          <a:prstGeom prst="rect">
            <a:avLst/>
          </a:prstGeom>
        </p:spPr>
      </p:pic>
      <p:sp>
        <p:nvSpPr>
          <p:cNvPr id="150" name="PlaceHolder 3"/>
          <p:cNvSpPr>
            <a:spLocks noGrp="1"/>
          </p:cNvSpPr>
          <p:nvPr>
            <p:ph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400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Strangely, I found that lowering the cutoff frequency allowed for more high frequencies to be preserved in the dog image (whereas raising the cutoff frequency restricted the amount of high frequencies). </a:t>
            </a:r>
            <a:r>
              <a:rPr lang="en-US" sz="1400" b="0" strike="noStrike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Based off what I’ve heard in lecture + read online, I would expect the opposite to occur. </a:t>
            </a: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400" b="0" strike="noStrike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I wonder if this is because of how we calculated k and sigma for creating our Gaussian kernels or maybe how the filter size changed with cutoff frequency.</a:t>
            </a: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400" b="0" strike="noStrike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If you have feedback, do let me know. My code passed all tests on </a:t>
            </a:r>
            <a:r>
              <a:rPr lang="en-US" sz="1400" b="0" strike="noStrike" spc="-1" dirty="0" err="1">
                <a:solidFill>
                  <a:schemeClr val="accent2">
                    <a:lumOff val="21760"/>
                  </a:schemeClr>
                </a:solidFill>
                <a:latin typeface="Arial"/>
              </a:rPr>
              <a:t>Gradescope</a:t>
            </a:r>
            <a:r>
              <a:rPr lang="en-US" sz="1400" b="0" strike="noStrike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 though.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14A64F-BE13-F61F-ED28-78070AECF1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60" y="1152360"/>
            <a:ext cx="3999600" cy="19024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CFBA69-0758-9F61-CF1E-F26CE429C9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1560" y="3326521"/>
            <a:ext cx="2279271" cy="10846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1510BF-4F36-B7B3-D144-1B7297F82E6D}"/>
              </a:ext>
            </a:extLst>
          </p:cNvPr>
          <p:cNvSpPr txBox="1"/>
          <p:nvPr/>
        </p:nvSpPr>
        <p:spPr>
          <a:xfrm>
            <a:off x="127029" y="4414510"/>
            <a:ext cx="21845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Cutoff frequency =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665CB2-8250-6CA0-4712-38504661ED27}"/>
              </a:ext>
            </a:extLst>
          </p:cNvPr>
          <p:cNvSpPr txBox="1"/>
          <p:nvPr/>
        </p:nvSpPr>
        <p:spPr>
          <a:xfrm>
            <a:off x="2358929" y="4414511"/>
            <a:ext cx="21845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Cutoff frequency = 63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ED9730-4087-417F-8398-AFB0C944EABE}"/>
              </a:ext>
            </a:extLst>
          </p:cNvPr>
          <p:cNvSpPr txBox="1"/>
          <p:nvPr/>
        </p:nvSpPr>
        <p:spPr>
          <a:xfrm>
            <a:off x="172540" y="3005158"/>
            <a:ext cx="41388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Cutoff Frequency = 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defTabSz="877680">
              <a:lnSpc>
                <a:spcPct val="100000"/>
              </a:lnSpc>
              <a:tabLst>
                <a:tab pos="0" algn="l"/>
              </a:tabLst>
            </a:pPr>
            <a:r>
              <a:rPr lang="en-US" sz="269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Part 4: Frequency Domain Convolutions </a:t>
            </a:r>
            <a:r>
              <a:rPr lang="en-US" sz="2690" spc="-1" dirty="0">
                <a:solidFill>
                  <a:srgbClr val="000000"/>
                </a:solidFill>
              </a:rPr>
              <a:t>(extra credit)</a:t>
            </a:r>
            <a:endParaRPr lang="en-US" sz="2690" b="0" strike="noStrike" spc="-1" dirty="0">
              <a:solidFill>
                <a:srgbClr val="000000"/>
              </a:solidFill>
              <a:latin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2" name="PlaceHolder 2"/>
              <p:cNvSpPr>
                <a:spLocks noGrp="1"/>
              </p:cNvSpPr>
              <p:nvPr>
                <p:ph/>
              </p:nvPr>
            </p:nvSpPr>
            <p:spPr>
              <a:xfrm>
                <a:off x="311760" y="1152360"/>
                <a:ext cx="8039160" cy="3416040"/>
              </a:xfrm>
              <a:prstGeom prst="rect">
                <a:avLst/>
              </a:prstGeom>
              <a:noFill/>
              <a:ln w="12600">
                <a:noFill/>
              </a:ln>
            </p:spPr>
            <p:txBody>
              <a:bodyPr lIns="91440" tIns="91440" rIns="91440" bIns="91440" anchor="t">
                <a:noAutofit/>
              </a:bodyPr>
              <a:lstStyle/>
              <a:p>
                <a:pPr indent="0" defTabSz="914400">
                  <a:lnSpc>
                    <a:spcPct val="115000"/>
                  </a:lnSpc>
                  <a:buNone/>
                  <a:tabLst>
                    <a:tab pos="0" algn="l"/>
                  </a:tabLst>
                </a:pPr>
                <a:r>
                  <a:rPr lang="en-US" sz="1400" spc="-1" dirty="0">
                    <a:solidFill>
                      <a:schemeClr val="accent2">
                        <a:lumOff val="21760"/>
                      </a:schemeClr>
                    </a:solidFill>
                    <a:latin typeface="Arial"/>
                    <a:ea typeface="Arial"/>
                  </a:rPr>
                  <a:t>The Convolution Theorem can mathematically expressed as the following:</a:t>
                </a:r>
              </a:p>
              <a:p>
                <a:pPr indent="0" defTabSz="914400">
                  <a:lnSpc>
                    <a:spcPct val="115000"/>
                  </a:lnSpc>
                  <a:buNone/>
                  <a:tabLst>
                    <a:tab pos="0" algn="l"/>
                  </a:tabLst>
                </a:pPr>
                <a:endParaRPr lang="en-US" sz="1400" b="0" strike="noStrike" spc="-1" dirty="0">
                  <a:solidFill>
                    <a:schemeClr val="accent2">
                      <a:lumOff val="21760"/>
                    </a:schemeClr>
                  </a:solidFill>
                  <a:latin typeface="Arial"/>
                  <a:ea typeface="Arial"/>
                </a:endParaRPr>
              </a:p>
              <a:p>
                <a:pPr indent="0" defTabSz="914400">
                  <a:lnSpc>
                    <a:spcPct val="115000"/>
                  </a:lnSpc>
                  <a:buNone/>
                  <a:tabLst>
                    <a:tab pos="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pc="-1" smtClean="0">
                          <a:solidFill>
                            <a:schemeClr val="accent2">
                              <a:lumOff val="2176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pc="-1" smtClean="0">
                              <a:solidFill>
                                <a:schemeClr val="accent2">
                                  <a:lumOff val="2176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pc="-1" smtClean="0">
                              <a:solidFill>
                                <a:schemeClr val="accent2">
                                  <a:lumOff val="2176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400" b="0" i="1" spc="-1" smtClean="0">
                              <a:solidFill>
                                <a:schemeClr val="accent2">
                                  <a:lumOff val="2176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1400" b="0" i="1" spc="-1" smtClean="0">
                              <a:solidFill>
                                <a:schemeClr val="accent2">
                                  <a:lumOff val="2176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sz="1400" b="0" i="1" spc="-1" smtClean="0">
                          <a:solidFill>
                            <a:schemeClr val="accent2">
                              <a:lumOff val="2176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pc="-1" smtClean="0">
                          <a:solidFill>
                            <a:schemeClr val="accent2">
                              <a:lumOff val="2176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pc="-1" smtClean="0">
                              <a:solidFill>
                                <a:schemeClr val="accent2">
                                  <a:lumOff val="2176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pc="-1" smtClean="0">
                              <a:solidFill>
                                <a:schemeClr val="accent2">
                                  <a:lumOff val="2176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sz="1400" b="0" i="1" spc="-1" smtClean="0">
                          <a:solidFill>
                            <a:schemeClr val="accent2">
                              <a:lumOff val="2176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400" b="0" i="1" spc="-1" smtClean="0">
                          <a:solidFill>
                            <a:schemeClr val="accent2">
                              <a:lumOff val="21760"/>
                            </a:schemeClr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400" b="0" i="1" spc="-1" smtClean="0">
                          <a:solidFill>
                            <a:schemeClr val="accent2">
                              <a:lumOff val="21760"/>
                            </a:schemeClr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400" b="0" i="1" spc="-1" smtClean="0">
                          <a:solidFill>
                            <a:schemeClr val="accent2">
                              <a:lumOff val="21760"/>
                            </a:schemeClr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400" spc="-1" dirty="0">
                  <a:solidFill>
                    <a:schemeClr val="accent2">
                      <a:lumOff val="21760"/>
                    </a:schemeClr>
                  </a:solidFill>
                  <a:latin typeface="Arial"/>
                </a:endParaRPr>
              </a:p>
              <a:p>
                <a:pPr indent="0" defTabSz="914400">
                  <a:lnSpc>
                    <a:spcPct val="115000"/>
                  </a:lnSpc>
                  <a:buNone/>
                  <a:tabLst>
                    <a:tab pos="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pc="-1" smtClean="0">
                          <a:solidFill>
                            <a:schemeClr val="accent2">
                              <a:lumOff val="21760"/>
                            </a:schemeClr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1400" b="0" i="1" spc="-1" smtClean="0">
                          <a:solidFill>
                            <a:schemeClr val="accent2">
                              <a:lumOff val="2176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400" b="0" i="1" spc="-1" smtClean="0">
                          <a:solidFill>
                            <a:schemeClr val="accent2">
                              <a:lumOff val="21760"/>
                            </a:schemeClr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400" b="0" i="1" spc="-1" smtClean="0">
                          <a:solidFill>
                            <a:schemeClr val="accent2">
                              <a:lumOff val="2176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b="0" i="1" spc="-1" smtClean="0">
                              <a:solidFill>
                                <a:schemeClr val="accent2">
                                  <a:lumOff val="2176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pc="-1" smtClean="0">
                              <a:solidFill>
                                <a:schemeClr val="accent2">
                                  <a:lumOff val="2176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sz="1400" b="0" i="1" spc="-1" smtClean="0">
                              <a:solidFill>
                                <a:schemeClr val="accent2">
                                  <a:lumOff val="2176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400" b="0" i="1" spc="-1" smtClean="0">
                          <a:solidFill>
                            <a:schemeClr val="accent2">
                              <a:lumOff val="21760"/>
                            </a:schemeClr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400" b="0" i="1" spc="-1" smtClean="0">
                          <a:solidFill>
                            <a:schemeClr val="accent2">
                              <a:lumOff val="2176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pc="-1" smtClean="0">
                              <a:solidFill>
                                <a:schemeClr val="accent2">
                                  <a:lumOff val="2176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pc="-1" smtClean="0">
                              <a:solidFill>
                                <a:schemeClr val="accent2">
                                  <a:lumOff val="2176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sz="1400" b="0" i="1" spc="-1" smtClean="0">
                          <a:solidFill>
                            <a:schemeClr val="accent2">
                              <a:lumOff val="2176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400" b="0" i="1" spc="-1" smtClean="0">
                          <a:solidFill>
                            <a:schemeClr val="accent2">
                              <a:lumOff val="21760"/>
                            </a:schemeClr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400" b="0" i="1" spc="-1" smtClean="0">
                          <a:solidFill>
                            <a:schemeClr val="accent2">
                              <a:lumOff val="21760"/>
                            </a:schemeClr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400" b="0" i="1" spc="-1" smtClean="0">
                          <a:solidFill>
                            <a:schemeClr val="accent2">
                              <a:lumOff val="21760"/>
                            </a:schemeClr>
                          </a:solidFill>
                          <a:latin typeface="Cambria Math" panose="02040503050406030204" pitchFamily="18" charset="0"/>
                        </a:rPr>
                        <m:t>]]</m:t>
                      </m:r>
                    </m:oMath>
                  </m:oMathPara>
                </a14:m>
                <a:endParaRPr lang="en-US" sz="1400" spc="-1" dirty="0">
                  <a:solidFill>
                    <a:schemeClr val="accent2">
                      <a:lumOff val="21760"/>
                    </a:schemeClr>
                  </a:solidFill>
                  <a:latin typeface="Arial"/>
                </a:endParaRPr>
              </a:p>
              <a:p>
                <a:pPr indent="0" defTabSz="914400">
                  <a:lnSpc>
                    <a:spcPct val="115000"/>
                  </a:lnSpc>
                  <a:buNone/>
                  <a:tabLst>
                    <a:tab pos="0" algn="l"/>
                  </a:tabLst>
                </a:pPr>
                <a:endParaRPr lang="en-US" sz="1400" spc="-1" dirty="0">
                  <a:solidFill>
                    <a:schemeClr val="accent2">
                      <a:lumOff val="21760"/>
                    </a:schemeClr>
                  </a:solidFill>
                  <a:latin typeface="Arial"/>
                </a:endParaRPr>
              </a:p>
              <a:p>
                <a:pPr indent="0" defTabSz="914400">
                  <a:lnSpc>
                    <a:spcPct val="115000"/>
                  </a:lnSpc>
                  <a:buNone/>
                  <a:tabLst>
                    <a:tab pos="0" algn="l"/>
                  </a:tabLst>
                </a:pPr>
                <a:r>
                  <a:rPr lang="en-US" sz="1400" spc="-1" dirty="0">
                    <a:solidFill>
                      <a:schemeClr val="accent2">
                        <a:lumOff val="21760"/>
                      </a:schemeClr>
                    </a:solidFill>
                    <a:latin typeface="Arial"/>
                  </a:rPr>
                  <a:t>Supposing that g represents our filter and h our image, then the Convolution Theorem states that we can convolve our filter and image by taking the inverse FT of the product of Fourier transformed g/h (</a:t>
                </a:r>
                <a:r>
                  <a:rPr lang="en-US" sz="1400" spc="-1" dirty="0" err="1">
                    <a:solidFill>
                      <a:schemeClr val="accent2">
                        <a:lumOff val="21760"/>
                      </a:schemeClr>
                    </a:solidFill>
                    <a:latin typeface="Arial"/>
                  </a:rPr>
                  <a:t>i.e</a:t>
                </a:r>
                <a:r>
                  <a:rPr lang="en-US" sz="1400" spc="-1" dirty="0">
                    <a:solidFill>
                      <a:schemeClr val="accent2">
                        <a:lumOff val="21760"/>
                      </a:schemeClr>
                    </a:solidFill>
                    <a:latin typeface="Arial"/>
                  </a:rPr>
                  <a:t> the elementwise product of their frequency representations).</a:t>
                </a:r>
              </a:p>
              <a:p>
                <a:pPr indent="0" defTabSz="914400">
                  <a:lnSpc>
                    <a:spcPct val="115000"/>
                  </a:lnSpc>
                  <a:buNone/>
                  <a:tabLst>
                    <a:tab pos="0" algn="l"/>
                  </a:tabLst>
                </a:pPr>
                <a:endParaRPr lang="en-US" sz="1400" b="0" strike="noStrike" spc="-1" dirty="0">
                  <a:solidFill>
                    <a:schemeClr val="accent2">
                      <a:lumOff val="21760"/>
                    </a:schemeClr>
                  </a:solidFill>
                  <a:latin typeface="Arial"/>
                </a:endParaRPr>
              </a:p>
              <a:p>
                <a:pPr indent="0" defTabSz="914400">
                  <a:lnSpc>
                    <a:spcPct val="115000"/>
                  </a:lnSpc>
                  <a:buNone/>
                  <a:tabLst>
                    <a:tab pos="0" algn="l"/>
                  </a:tabLst>
                </a:pPr>
                <a:r>
                  <a:rPr lang="en-US" sz="1400" b="0" strike="noStrike" spc="-1" dirty="0">
                    <a:solidFill>
                      <a:schemeClr val="accent2">
                        <a:lumOff val="21760"/>
                      </a:schemeClr>
                    </a:solidFill>
                    <a:latin typeface="Arial"/>
                  </a:rPr>
                  <a:t>We can use the </a:t>
                </a:r>
                <a:r>
                  <a:rPr lang="en-US" sz="1400" spc="-1" dirty="0">
                    <a:solidFill>
                      <a:schemeClr val="accent2">
                        <a:lumOff val="21760"/>
                      </a:schemeClr>
                    </a:solidFill>
                    <a:latin typeface="Arial"/>
                  </a:rPr>
                  <a:t>C</a:t>
                </a:r>
                <a:r>
                  <a:rPr lang="en-US" sz="1400" b="0" strike="noStrike" spc="-1" dirty="0">
                    <a:solidFill>
                      <a:schemeClr val="accent2">
                        <a:lumOff val="21760"/>
                      </a:schemeClr>
                    </a:solidFill>
                    <a:latin typeface="Arial"/>
                  </a:rPr>
                  <a:t>onvolution </a:t>
                </a:r>
                <a:r>
                  <a:rPr lang="en-US" sz="1400" spc="-1" dirty="0">
                    <a:solidFill>
                      <a:schemeClr val="accent2">
                        <a:lumOff val="21760"/>
                      </a:schemeClr>
                    </a:solidFill>
                    <a:latin typeface="Arial"/>
                  </a:rPr>
                  <a:t>T</a:t>
                </a:r>
                <a:r>
                  <a:rPr lang="en-US" sz="1400" b="0" strike="noStrike" spc="-1" dirty="0">
                    <a:solidFill>
                      <a:schemeClr val="accent2">
                        <a:lumOff val="21760"/>
                      </a:schemeClr>
                    </a:solidFill>
                    <a:latin typeface="Arial"/>
                  </a:rPr>
                  <a:t>heorem to also perform deconvolutions – instead of multiplying our frequency representations, we instead element-wise divide the frequencies our convolved image by the frequencies of our filter:</a:t>
                </a:r>
              </a:p>
              <a:p>
                <a:pPr indent="0" defTabSz="914400">
                  <a:lnSpc>
                    <a:spcPct val="115000"/>
                  </a:lnSpc>
                  <a:buNone/>
                  <a:tabLst>
                    <a:tab pos="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trike="noStrike" spc="-1" smtClean="0">
                          <a:solidFill>
                            <a:schemeClr val="accent2">
                              <a:lumOff val="21760"/>
                            </a:schemeClr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400" b="0" i="1" strike="noStrike" spc="-1" smtClean="0">
                          <a:solidFill>
                            <a:schemeClr val="accent2">
                              <a:lumOff val="2176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b="0" i="1" strike="noStrike" spc="-1" smtClean="0">
                              <a:solidFill>
                                <a:schemeClr val="accent2">
                                  <a:lumOff val="2176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trike="noStrike" spc="-1" smtClean="0">
                              <a:solidFill>
                                <a:schemeClr val="accent2">
                                  <a:lumOff val="2176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sz="1400" b="0" i="1" strike="noStrike" spc="-1" smtClean="0">
                              <a:solidFill>
                                <a:schemeClr val="accent2">
                                  <a:lumOff val="2176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400" b="0" i="1" strike="noStrike" spc="-1" smtClean="0">
                          <a:solidFill>
                            <a:schemeClr val="accent2">
                              <a:lumOff val="21760"/>
                            </a:schemeClr>
                          </a:solidFill>
                          <a:latin typeface="Cambria Math" panose="02040503050406030204" pitchFamily="18" charset="0"/>
                        </a:rPr>
                        <m:t>[ </m:t>
                      </m:r>
                      <m:f>
                        <m:fPr>
                          <m:ctrlPr>
                            <a:rPr lang="en-US" sz="1400" b="0" i="1" strike="noStrike" spc="-1" smtClean="0">
                              <a:solidFill>
                                <a:schemeClr val="accent2">
                                  <a:lumOff val="2176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trike="noStrike" spc="-1" smtClean="0">
                              <a:solidFill>
                                <a:schemeClr val="accent2">
                                  <a:lumOff val="2176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400" b="0" i="1" strike="noStrike" spc="-1" smtClean="0">
                                  <a:solidFill>
                                    <a:schemeClr val="accent2">
                                      <a:lumOff val="2176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trike="noStrike" spc="-1" smtClean="0">
                                  <a:solidFill>
                                    <a:schemeClr val="accent2">
                                      <a:lumOff val="2176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1400" b="0" i="1" strike="noStrike" spc="-1" smtClean="0">
                                  <a:solidFill>
                                    <a:schemeClr val="accent2">
                                      <a:lumOff val="2176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sz="1400" b="0" i="1" strike="noStrike" spc="-1" smtClean="0">
                                  <a:solidFill>
                                    <a:schemeClr val="accent2">
                                      <a:lumOff val="2176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num>
                        <m:den>
                          <m:r>
                            <a:rPr lang="en-US" sz="1400" b="0" i="1" strike="noStrike" spc="-1" smtClean="0">
                              <a:solidFill>
                                <a:schemeClr val="accent2">
                                  <a:lumOff val="2176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400" b="0" i="1" strike="noStrike" spc="-1" smtClean="0">
                                  <a:solidFill>
                                    <a:schemeClr val="accent2">
                                      <a:lumOff val="2176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trike="noStrike" spc="-1" smtClean="0">
                                  <a:solidFill>
                                    <a:schemeClr val="accent2">
                                      <a:lumOff val="2176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d>
                        </m:den>
                      </m:f>
                      <m:r>
                        <a:rPr lang="en-US" sz="1400" b="0" i="0" strike="noStrike" spc="-1" smtClean="0">
                          <a:solidFill>
                            <a:schemeClr val="accent2">
                              <a:lumOff val="21760"/>
                            </a:schemeClr>
                          </a:solidFill>
                          <a:latin typeface="Cambria Math" panose="02040503050406030204" pitchFamily="18" charset="0"/>
                        </a:rPr>
                        <m:t> ]</m:t>
                      </m:r>
                    </m:oMath>
                  </m:oMathPara>
                </a14:m>
                <a:endParaRPr lang="en-US" sz="1400" b="0" strike="noStrike" spc="-1" dirty="0">
                  <a:solidFill>
                    <a:schemeClr val="accent2">
                      <a:lumOff val="21760"/>
                    </a:schemeClr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152" name="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311760" y="1152360"/>
                <a:ext cx="8039160" cy="3416040"/>
              </a:xfrm>
              <a:prstGeom prst="rect">
                <a:avLst/>
              </a:prstGeom>
              <a:blipFill>
                <a:blip r:embed="rId2"/>
                <a:stretch>
                  <a:fillRect l="-158" r="-631" b="-5926"/>
                </a:stretch>
              </a:blipFill>
              <a:ln w="126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defTabSz="877680">
              <a:lnSpc>
                <a:spcPct val="100000"/>
              </a:lnSpc>
              <a:tabLst>
                <a:tab pos="0" algn="l"/>
              </a:tabLst>
            </a:pPr>
            <a:r>
              <a:rPr lang="en-US" sz="269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Part 4: Frequency Domain Convolutions </a:t>
            </a:r>
            <a:r>
              <a:rPr lang="en-US" sz="2690" spc="-1" dirty="0">
                <a:solidFill>
                  <a:srgbClr val="000000"/>
                </a:solidFill>
              </a:rPr>
              <a:t>(extra credit)</a:t>
            </a:r>
            <a:endParaRPr lang="en-US" sz="269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41BA7D-9D12-6913-3C1D-8A755D1DA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94" y="1861653"/>
            <a:ext cx="4197002" cy="22094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AAA187F-C5BD-2F69-65DC-A8C98B172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61654"/>
            <a:ext cx="4197002" cy="223403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defTabSz="877680">
              <a:lnSpc>
                <a:spcPct val="100000"/>
              </a:lnSpc>
              <a:tabLst>
                <a:tab pos="0" algn="l"/>
              </a:tabLst>
            </a:pPr>
            <a:r>
              <a:rPr lang="en-US" sz="269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Part 4: Frequency Domain Convolutions </a:t>
            </a:r>
            <a:r>
              <a:rPr lang="en-US" sz="2690" spc="-1" dirty="0">
                <a:solidFill>
                  <a:srgbClr val="000000"/>
                </a:solidFill>
              </a:rPr>
              <a:t>(extra credit)</a:t>
            </a:r>
            <a:endParaRPr lang="en-US" sz="269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06C63E-4489-B094-896C-E56D5CE2B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60" y="1748415"/>
            <a:ext cx="4260240" cy="22427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CDAE5E7-DB31-1FBD-D844-8645C04CE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20" y="1750860"/>
            <a:ext cx="4255595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defTabSz="877680">
              <a:lnSpc>
                <a:spcPct val="100000"/>
              </a:lnSpc>
              <a:tabLst>
                <a:tab pos="0" algn="l"/>
              </a:tabLst>
            </a:pPr>
            <a:r>
              <a:rPr lang="en-US" sz="269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Part 4: Frequency Domain Convolutions </a:t>
            </a:r>
            <a:r>
              <a:rPr lang="en-US" sz="2690" spc="-1" dirty="0">
                <a:solidFill>
                  <a:srgbClr val="000000"/>
                </a:solidFill>
              </a:rPr>
              <a:t>(extra credit)</a:t>
            </a:r>
            <a:endParaRPr lang="en-US" sz="269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74200" cy="341604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400" b="0" strike="noStrike" spc="-1" dirty="0">
                <a:solidFill>
                  <a:schemeClr val="accent2">
                    <a:lumOff val="21760"/>
                  </a:schemeClr>
                </a:solidFill>
                <a:latin typeface="Arial"/>
                <a:ea typeface="Arial"/>
              </a:rPr>
              <a:t>[What factors limit the potential uses of deconvolution in the real world? Give two possible factors]</a:t>
            </a:r>
          </a:p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marL="342900" indent="-342900" defTabSz="914400">
              <a:lnSpc>
                <a:spcPct val="115000"/>
              </a:lnSpc>
              <a:buAutoNum type="arabicPeriod"/>
              <a:tabLst>
                <a:tab pos="0" algn="l"/>
              </a:tabLst>
            </a:pPr>
            <a:r>
              <a:rPr lang="en-US" sz="1400" b="0" strike="noStrike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The presence of noise (perhaps due to image compression) leaves us with high frequency artifacts that remain in the deconvolved image. This requires strong regularization (i.e. de-noising).</a:t>
            </a:r>
          </a:p>
          <a:p>
            <a:pPr marL="342900" indent="-342900" defTabSz="914400">
              <a:lnSpc>
                <a:spcPct val="115000"/>
              </a:lnSpc>
              <a:buAutoNum type="arabicPeriod"/>
              <a:tabLst>
                <a:tab pos="0" algn="l"/>
              </a:tabLst>
            </a:pPr>
            <a:r>
              <a:rPr lang="en-US" sz="1400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We often don’t know what filter was used to create our image.</a:t>
            </a:r>
            <a:endParaRPr lang="en-US" sz="1400" b="0" strike="noStrike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  <p:sp>
        <p:nvSpPr>
          <p:cNvPr id="161" name="Google Shape;169;p35"/>
          <p:cNvSpPr/>
          <p:nvPr/>
        </p:nvSpPr>
        <p:spPr>
          <a:xfrm>
            <a:off x="4657680" y="1152359"/>
            <a:ext cx="4174200" cy="3674283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rm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00" b="0" strike="noStrike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[Describe any structures found in the frequency domain of the mystery image and explain what it’s caused by.]</a:t>
            </a: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00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A</a:t>
            </a:r>
            <a:r>
              <a:rPr lang="en-US" sz="1400" b="0" strike="noStrike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ssuming this question is asking about the mystery image prior to deconvolution – similar to the blurred dog image, we can see that the frequencies along the x/y-axes are stronger than rest (though not significantly so) indicating the presence of vertical/horizontal “edges.” </a:t>
            </a: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00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We can also see a more organic pattern with dips, alluding to the noise added by the random filter used </a:t>
            </a:r>
            <a:r>
              <a:rPr lang="en-US" sz="1400" spc="-1">
                <a:solidFill>
                  <a:schemeClr val="accent2">
                    <a:lumOff val="21760"/>
                  </a:schemeClr>
                </a:solidFill>
                <a:latin typeface="Arial"/>
              </a:rPr>
              <a:t>in convolution.</a:t>
            </a: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US" sz="14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defTabSz="8776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90" b="0" strike="noStrike" spc="-1">
                <a:solidFill>
                  <a:srgbClr val="000000"/>
                </a:solidFill>
                <a:latin typeface="Arial"/>
                <a:ea typeface="Arial"/>
              </a:rPr>
              <a:t>Conclusion</a:t>
            </a:r>
            <a:endParaRPr lang="en-US" sz="269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r>
              <a:rPr lang="en-US" sz="1800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Assume that we extract the low frequencies from image a and the high frequencies from image b. </a:t>
            </a: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r>
              <a:rPr lang="en-US" sz="1800" spc="-1" dirty="0">
                <a:solidFill>
                  <a:schemeClr val="accent2">
                    <a:lumOff val="21760"/>
                  </a:schemeClr>
                </a:solidFill>
                <a:latin typeface="Arial"/>
              </a:rPr>
              <a:t>Lowering the cutoff frequency results more image a being more present, whereas raising the cutoff frequency preserves more of image b. I’m not sure if this is meant to be intended result though.</a:t>
            </a:r>
          </a:p>
          <a:p>
            <a:pPr>
              <a:lnSpc>
                <a:spcPct val="115000"/>
              </a:lnSpc>
              <a:spcBef>
                <a:spcPts val="1599"/>
              </a:spcBef>
              <a:tabLst>
                <a:tab pos="0" algn="l"/>
              </a:tabLst>
            </a:pPr>
            <a:r>
              <a:rPr lang="en-US" sz="1800" spc="-1" dirty="0">
                <a:solidFill>
                  <a:schemeClr val="accent2">
                    <a:lumOff val="21760"/>
                  </a:schemeClr>
                </a:solidFill>
              </a:rPr>
              <a:t>Image b will be more prominent in a larger/closer image, whereas image a is prominent in a smaller/farther image. Swapping the images will swap these effects.</a:t>
            </a:r>
          </a:p>
          <a:p>
            <a:pPr indent="0" defTabSz="914400">
              <a:lnSpc>
                <a:spcPct val="115000"/>
              </a:lnSpc>
              <a:spcBef>
                <a:spcPts val="1599"/>
              </a:spcBef>
              <a:buNone/>
              <a:tabLst>
                <a:tab pos="0" algn="l"/>
              </a:tabLst>
            </a:pPr>
            <a:endParaRPr lang="en-US" sz="1800" spc="-1" dirty="0">
              <a:solidFill>
                <a:schemeClr val="accent2">
                  <a:lumOff val="2176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6720</TotalTime>
  <Words>1795</Words>
  <Application>Microsoft Macintosh PowerPoint</Application>
  <PresentationFormat>On-screen Show (16:9)</PresentationFormat>
  <Paragraphs>255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22</vt:i4>
      </vt:variant>
      <vt:variant>
        <vt:lpstr>Slide Titles</vt:lpstr>
      </vt:variant>
      <vt:variant>
        <vt:i4>21</vt:i4>
      </vt:variant>
    </vt:vector>
  </HeadingPairs>
  <TitlesOfParts>
    <vt:vector size="49" baseType="lpstr">
      <vt:lpstr>Aptos</vt:lpstr>
      <vt:lpstr>Arial</vt:lpstr>
      <vt:lpstr>Cambria Math</vt:lpstr>
      <vt:lpstr>Symbol</vt:lpstr>
      <vt:lpstr>Times New Roman</vt:lpstr>
      <vt:lpstr>Wingdings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CS 6476 Project 1</vt:lpstr>
      <vt:lpstr>Part 1: Image filtering</vt:lpstr>
      <vt:lpstr>Part 1: Image filtering</vt:lpstr>
      <vt:lpstr>Part 1: Image filtering</vt:lpstr>
      <vt:lpstr>Part 1: Hybrid images</vt:lpstr>
      <vt:lpstr>Part 1: Hybrid images</vt:lpstr>
      <vt:lpstr>Part 1: Hybrid images</vt:lpstr>
      <vt:lpstr>Part 2: Hybrid images with PyTorch</vt:lpstr>
      <vt:lpstr>Part 2: Hybrid images with PyTorch</vt:lpstr>
      <vt:lpstr>Part 2: Hybrid images with PyTorch</vt:lpstr>
      <vt:lpstr>Part 3: Understanding input/output shapes in PyTorch</vt:lpstr>
      <vt:lpstr>Part 3: Understanding input/output shapes in PyTorch</vt:lpstr>
      <vt:lpstr>Part 3: Understanding input/output shapes in PyTorch</vt:lpstr>
      <vt:lpstr>Part 3: Understanding input/output shapes in PyTorch</vt:lpstr>
      <vt:lpstr>Part 4: Frequency Domain Convolutions (extra credit)</vt:lpstr>
      <vt:lpstr>Part 4: Frequency Domain Convolutions (extra credit)</vt:lpstr>
      <vt:lpstr>Part 4: Frequency Domain Convolutions (extra credit)</vt:lpstr>
      <vt:lpstr>Part 4: Frequency Domain Convolutions (extra credit)</vt:lpstr>
      <vt:lpstr>Part 4: Frequency Domain Convolutions (extra credit)</vt:lpstr>
      <vt:lpstr>Part 4: Frequency Domain Convolutions (extra credit)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6476 Project 1</dc:title>
  <dc:subject/>
  <dc:creator/>
  <dc:description/>
  <cp:lastModifiedBy>Yamamura, Auryn A</cp:lastModifiedBy>
  <cp:revision>37</cp:revision>
  <dcterms:modified xsi:type="dcterms:W3CDTF">2025-09-08T01:22:53Z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(16:9)</vt:lpwstr>
  </property>
  <property fmtid="{D5CDD505-2E9C-101B-9397-08002B2CF9AE}" pid="3" name="Slides">
    <vt:i4>21</vt:i4>
  </property>
</Properties>
</file>